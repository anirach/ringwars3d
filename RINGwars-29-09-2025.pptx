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39c4db8cc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739c4db8cc_2_7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39c4db8c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739c4db8cc_0_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39c4db8cc_2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739c4db8cc_2_8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739c4db8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3739c4db8cc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739c4db8cc_2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739c4db8cc_2_9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739c4db8cc_2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739c4db8cc_2_9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739c4db8cc_2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739c4db8cc_2_10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739c4db8c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739c4db8cc_0_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743356956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3743356956b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743356956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g3743356956b_0_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743356956b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743356956b_0_10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739c4db8c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g3739c4db8cc_0_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739c4db8cc_2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739c4db8cc_2_1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743356956b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g3743356956b_0_1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739c4db8cc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g3739c4db8cc_2_13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743356956b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g3743356956b_0_1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7d1f08fb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g37d1f08fb22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739c4db8cc_2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g3739c4db8cc_2_14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739c4db8c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g3739c4db8cc_0_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739c4db8c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g3739c4db8cc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739c4db8c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g3739c4db8cc_0_5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743356956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g3743356956b_0_7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739c4db8cc_2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3739c4db8cc_2_15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743356956b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3743356956b_0_16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743356956b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g3743356956b_0_17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74aca555c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g374aca555c0_0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739c4db8cc_2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739c4db8cc_2_16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743356956b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g3743356956b_0_2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743356956b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g3743356956b_0_19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743356956b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g3743356956b_0_20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743356956b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g3743356956b_0_2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743356956b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g3743356956b_0_2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743356956b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g3743356956b_0_2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743356956b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g3743356956b_0_2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743356956b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g3743356956b_0_2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745e5dc5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g3745e5dc532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745e5dc53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g3745e5dc532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745e5dc53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g3745e5dc532_0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745e5dc53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g3745e5dc532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745e5dc53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g3745e5dc532_0_4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745e5dc532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g3745e5dc532_0_1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745e5dc53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g3745e5dc532_0_6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74aca555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g374aca555c0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14"/>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1" name="Shape 61"/>
        <p:cNvGrpSpPr/>
        <p:nvPr/>
      </p:nvGrpSpPr>
      <p:grpSpPr>
        <a:xfrm>
          <a:off x="0" y="0"/>
          <a:ext cx="0" cy="0"/>
          <a:chOff x="0" y="0"/>
          <a:chExt cx="0" cy="0"/>
        </a:xfrm>
      </p:grpSpPr>
      <p:sp>
        <p:nvSpPr>
          <p:cNvPr id="62" name="Google Shape;62;p15"/>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64" name="Google Shape;64;p1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7" name="Shape 67"/>
        <p:cNvGrpSpPr/>
        <p:nvPr/>
      </p:nvGrpSpPr>
      <p:grpSpPr>
        <a:xfrm>
          <a:off x="0" y="0"/>
          <a:ext cx="0" cy="0"/>
          <a:chOff x="0" y="0"/>
          <a:chExt cx="0" cy="0"/>
        </a:xfrm>
      </p:grpSpPr>
      <p:sp>
        <p:nvSpPr>
          <p:cNvPr id="68" name="Google Shape;68;p16"/>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0" name="Google Shape;70;p1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p17"/>
          <p:cNvSpPr txBox="1"/>
          <p:nvPr>
            <p:ph type="title"/>
          </p:nvPr>
        </p:nvSpPr>
        <p:spPr>
          <a:xfrm>
            <a:off x="722313" y="3305175"/>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7"/>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6" name="Google Shape;76;p1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9" name="Shape 79"/>
        <p:cNvGrpSpPr/>
        <p:nvPr/>
      </p:nvGrpSpPr>
      <p:grpSpPr>
        <a:xfrm>
          <a:off x="0" y="0"/>
          <a:ext cx="0" cy="0"/>
          <a:chOff x="0" y="0"/>
          <a:chExt cx="0" cy="0"/>
        </a:xfrm>
      </p:grpSpPr>
      <p:sp>
        <p:nvSpPr>
          <p:cNvPr id="80" name="Google Shape;80;p18"/>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8"/>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2" name="Google Shape;82;p18"/>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3" name="Google Shape;83;p1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6" name="Shape 86"/>
        <p:cNvGrpSpPr/>
        <p:nvPr/>
      </p:nvGrpSpPr>
      <p:grpSpPr>
        <a:xfrm>
          <a:off x="0" y="0"/>
          <a:ext cx="0" cy="0"/>
          <a:chOff x="0" y="0"/>
          <a:chExt cx="0" cy="0"/>
        </a:xfrm>
      </p:grpSpPr>
      <p:sp>
        <p:nvSpPr>
          <p:cNvPr id="87" name="Google Shape;87;p19"/>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9"/>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9" name="Google Shape;89;p19"/>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0" name="Google Shape;90;p19"/>
          <p:cNvSpPr txBox="1"/>
          <p:nvPr>
            <p:ph idx="3" type="body"/>
          </p:nvPr>
        </p:nvSpPr>
        <p:spPr>
          <a:xfrm>
            <a:off x="4645025"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1" name="Google Shape;91;p19"/>
          <p:cNvSpPr txBox="1"/>
          <p:nvPr>
            <p:ph idx="4" type="body"/>
          </p:nvPr>
        </p:nvSpPr>
        <p:spPr>
          <a:xfrm>
            <a:off x="4645025"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2" name="Google Shape;92;p1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0" y="204788"/>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02" name="Google Shape;102;p21"/>
          <p:cNvSpPr txBox="1"/>
          <p:nvPr>
            <p:ph idx="2" type="body"/>
          </p:nvPr>
        </p:nvSpPr>
        <p:spPr>
          <a:xfrm>
            <a:off x="457200" y="1076325"/>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03" name="Google Shape;103;p2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p:nvPr>
            <p:ph idx="2" type="pic"/>
          </p:nvPr>
        </p:nvSpPr>
        <p:spPr>
          <a:xfrm>
            <a:off x="1792288" y="459581"/>
            <a:ext cx="5486400" cy="3086100"/>
          </a:xfrm>
          <a:prstGeom prst="rect">
            <a:avLst/>
          </a:prstGeom>
          <a:noFill/>
          <a:ln>
            <a:noFill/>
          </a:ln>
        </p:spPr>
      </p:sp>
      <p:sp>
        <p:nvSpPr>
          <p:cNvPr id="109" name="Google Shape;109;p22"/>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0" name="Google Shape;110;p2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6" name="Google Shape;116;p2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463778" y="1371600"/>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p:nvPr>
            <p:ph idx="1" type="body"/>
          </p:nvPr>
        </p:nvSpPr>
        <p:spPr>
          <a:xfrm rot="5400000">
            <a:off x="1272778" y="-609600"/>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2" name="Google Shape;122;p2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3.gif"/><Relationship Id="rId5" Type="http://schemas.openxmlformats.org/officeDocument/2006/relationships/image" Target="../media/image2.png"/><Relationship Id="rId6" Type="http://schemas.openxmlformats.org/officeDocument/2006/relationships/image" Target="../media/image14.gif"/><Relationship Id="rId7" Type="http://schemas.openxmlformats.org/officeDocument/2006/relationships/image" Target="../media/image11.png"/><Relationship Id="rId8" Type="http://schemas.openxmlformats.org/officeDocument/2006/relationships/image" Target="../media/image23.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2.png"/><Relationship Id="rId6" Type="http://schemas.openxmlformats.org/officeDocument/2006/relationships/image" Target="../media/image4.gif"/><Relationship Id="rId7" Type="http://schemas.openxmlformats.org/officeDocument/2006/relationships/image" Target="../media/image14.gif"/><Relationship Id="rId8" Type="http://schemas.openxmlformats.org/officeDocument/2006/relationships/image" Target="../media/image23.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4.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3.gif"/><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gif"/><Relationship Id="rId8" Type="http://schemas.openxmlformats.org/officeDocument/2006/relationships/image" Target="../media/image14.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4.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23.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3.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4.gif"/><Relationship Id="rId5" Type="http://schemas.openxmlformats.org/officeDocument/2006/relationships/image" Target="../media/image3.png"/><Relationship Id="rId6" Type="http://schemas.openxmlformats.org/officeDocument/2006/relationships/image" Target="../media/image1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23.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29.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20.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4.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22.gif"/><Relationship Id="rId5" Type="http://schemas.openxmlformats.org/officeDocument/2006/relationships/image" Target="../media/image27.gif"/><Relationship Id="rId6" Type="http://schemas.openxmlformats.org/officeDocument/2006/relationships/image" Target="../media/image13.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4.gif"/><Relationship Id="rId5"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35.png"/><Relationship Id="rId5" Type="http://schemas.openxmlformats.org/officeDocument/2006/relationships/image" Target="../media/image23.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6.png"/><Relationship Id="rId5" Type="http://schemas.openxmlformats.org/officeDocument/2006/relationships/image" Target="../media/image21.png"/><Relationship Id="rId6" Type="http://schemas.openxmlformats.org/officeDocument/2006/relationships/image" Target="../media/image23.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28.png"/><Relationship Id="rId5" Type="http://schemas.openxmlformats.org/officeDocument/2006/relationships/image" Target="../media/image4.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20.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16.png"/><Relationship Id="rId6" Type="http://schemas.openxmlformats.org/officeDocument/2006/relationships/image" Target="../media/image20.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31.png"/><Relationship Id="rId6" Type="http://schemas.openxmlformats.org/officeDocument/2006/relationships/image" Target="../media/image23.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33.png"/><Relationship Id="rId5" Type="http://schemas.openxmlformats.org/officeDocument/2006/relationships/image" Target="../media/image23.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23.gif"/><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gif"/><Relationship Id="rId8" Type="http://schemas.openxmlformats.org/officeDocument/2006/relationships/image" Target="../media/image14.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1.png"/><Relationship Id="rId4" Type="http://schemas.openxmlformats.org/officeDocument/2006/relationships/image" Target="../media/image23.gif"/><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gif"/><Relationship Id="rId8" Type="http://schemas.openxmlformats.org/officeDocument/2006/relationships/image" Target="../media/image14.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3.png"/><Relationship Id="rId4" Type="http://schemas.openxmlformats.org/officeDocument/2006/relationships/image" Target="../media/image14.gif"/><Relationship Id="rId5" Type="http://schemas.openxmlformats.org/officeDocument/2006/relationships/image" Target="../media/image37.png"/><Relationship Id="rId6" Type="http://schemas.openxmlformats.org/officeDocument/2006/relationships/image" Target="../media/image2.png"/><Relationship Id="rId7" Type="http://schemas.openxmlformats.org/officeDocument/2006/relationships/image" Target="../media/image29.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40.png"/><Relationship Id="rId4" Type="http://schemas.openxmlformats.org/officeDocument/2006/relationships/image" Target="../media/image11.png"/><Relationship Id="rId10" Type="http://schemas.openxmlformats.org/officeDocument/2006/relationships/image" Target="../media/image36.png"/><Relationship Id="rId9" Type="http://schemas.openxmlformats.org/officeDocument/2006/relationships/image" Target="../media/image23.gif"/><Relationship Id="rId5" Type="http://schemas.openxmlformats.org/officeDocument/2006/relationships/image" Target="../media/image4.gif"/><Relationship Id="rId6" Type="http://schemas.openxmlformats.org/officeDocument/2006/relationships/image" Target="../media/image2.png"/><Relationship Id="rId7" Type="http://schemas.openxmlformats.org/officeDocument/2006/relationships/image" Target="../media/image14.gif"/><Relationship Id="rId8"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45.png"/><Relationship Id="rId4" Type="http://schemas.openxmlformats.org/officeDocument/2006/relationships/image" Target="../media/image2.png"/><Relationship Id="rId5" Type="http://schemas.openxmlformats.org/officeDocument/2006/relationships/image" Target="../media/image20.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39.png"/><Relationship Id="rId4" Type="http://schemas.openxmlformats.org/officeDocument/2006/relationships/image" Target="../media/image3.png"/><Relationship Id="rId5" Type="http://schemas.openxmlformats.org/officeDocument/2006/relationships/image" Target="../media/image13.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32.png"/><Relationship Id="rId4" Type="http://schemas.openxmlformats.org/officeDocument/2006/relationships/image" Target="../media/image11.png"/><Relationship Id="rId9" Type="http://schemas.openxmlformats.org/officeDocument/2006/relationships/image" Target="../media/image4.gif"/><Relationship Id="rId5" Type="http://schemas.openxmlformats.org/officeDocument/2006/relationships/image" Target="../media/image23.gif"/><Relationship Id="rId6" Type="http://schemas.openxmlformats.org/officeDocument/2006/relationships/image" Target="../media/image2.png"/><Relationship Id="rId7" Type="http://schemas.openxmlformats.org/officeDocument/2006/relationships/image" Target="../media/image14.gif"/><Relationship Id="rId8"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50.png"/><Relationship Id="rId4" Type="http://schemas.openxmlformats.org/officeDocument/2006/relationships/image" Target="../media/image3.png"/><Relationship Id="rId5" Type="http://schemas.openxmlformats.org/officeDocument/2006/relationships/image" Target="../media/image4.gif"/><Relationship Id="rId6" Type="http://schemas.openxmlformats.org/officeDocument/2006/relationships/image" Target="../media/image2.png"/><Relationship Id="rId7" Type="http://schemas.openxmlformats.org/officeDocument/2006/relationships/image" Target="../media/image29.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2.png"/><Relationship Id="rId4" Type="http://schemas.openxmlformats.org/officeDocument/2006/relationships/image" Target="../media/image3.png"/><Relationship Id="rId5" Type="http://schemas.openxmlformats.org/officeDocument/2006/relationships/image" Target="../media/image23.gif"/><Relationship Id="rId6" Type="http://schemas.openxmlformats.org/officeDocument/2006/relationships/image" Target="../media/image11.png"/><Relationship Id="rId7" Type="http://schemas.openxmlformats.org/officeDocument/2006/relationships/image" Target="../media/image14.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34.png"/><Relationship Id="rId4" Type="http://schemas.openxmlformats.org/officeDocument/2006/relationships/image" Target="../media/image38.gif"/><Relationship Id="rId9" Type="http://schemas.openxmlformats.org/officeDocument/2006/relationships/image" Target="../media/image29.gif"/><Relationship Id="rId5" Type="http://schemas.openxmlformats.org/officeDocument/2006/relationships/image" Target="../media/image48.gif"/><Relationship Id="rId6" Type="http://schemas.openxmlformats.org/officeDocument/2006/relationships/image" Target="../media/image41.gif"/><Relationship Id="rId7" Type="http://schemas.openxmlformats.org/officeDocument/2006/relationships/image" Target="../media/image53.gif"/><Relationship Id="rId8"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47.png"/><Relationship Id="rId4" Type="http://schemas.openxmlformats.org/officeDocument/2006/relationships/image" Target="../media/image22.gif"/><Relationship Id="rId5" Type="http://schemas.openxmlformats.org/officeDocument/2006/relationships/image" Target="../media/image27.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52.png"/><Relationship Id="rId4" Type="http://schemas.openxmlformats.org/officeDocument/2006/relationships/image" Target="../media/image49.gif"/><Relationship Id="rId5" Type="http://schemas.openxmlformats.org/officeDocument/2006/relationships/image" Target="../media/image2.png"/><Relationship Id="rId6" Type="http://schemas.openxmlformats.org/officeDocument/2006/relationships/image" Target="../media/image20.gif"/><Relationship Id="rId7" Type="http://schemas.openxmlformats.org/officeDocument/2006/relationships/image" Target="../media/image3.png"/><Relationship Id="rId8" Type="http://schemas.openxmlformats.org/officeDocument/2006/relationships/image" Target="../media/image4.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5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54.png"/><Relationship Id="rId4" Type="http://schemas.openxmlformats.org/officeDocument/2006/relationships/image" Target="../media/image11.png"/><Relationship Id="rId5" Type="http://schemas.openxmlformats.org/officeDocument/2006/relationships/image" Target="../media/image4.gi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image" Target="../media/image4.gif"/><Relationship Id="rId5" Type="http://schemas.openxmlformats.org/officeDocument/2006/relationships/image" Target="../media/image11.png"/><Relationship Id="rId6" Type="http://schemas.openxmlformats.org/officeDocument/2006/relationships/image" Target="../media/image23.gif"/><Relationship Id="rId7" Type="http://schemas.openxmlformats.org/officeDocument/2006/relationships/image" Target="../media/image2.png"/><Relationship Id="rId8" Type="http://schemas.openxmlformats.org/officeDocument/2006/relationships/image" Target="../media/image14.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nvSpPr>
        <p:spPr>
          <a:xfrm>
            <a:off x="457200" y="342900"/>
            <a:ext cx="82296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4400" u="none" cap="none" strike="noStrike">
                <a:solidFill>
                  <a:schemeClr val="dk1"/>
                </a:solidFill>
                <a:latin typeface="Calibri"/>
                <a:ea typeface="Calibri"/>
                <a:cs typeface="Calibri"/>
                <a:sym typeface="Calibri"/>
              </a:rPr>
              <a:t>RINGwars</a:t>
            </a:r>
            <a:r>
              <a:rPr b="1" lang="en" sz="4400">
                <a:solidFill>
                  <a:schemeClr val="dk1"/>
                </a:solidFill>
                <a:latin typeface="Calibri"/>
                <a:ea typeface="Calibri"/>
                <a:cs typeface="Calibri"/>
                <a:sym typeface="Calibri"/>
              </a:rPr>
              <a:t> </a:t>
            </a:r>
            <a:r>
              <a:rPr b="1" i="0" lang="en" sz="4400" u="none" cap="none" strike="noStrike">
                <a:solidFill>
                  <a:schemeClr val="dk1"/>
                </a:solidFill>
                <a:latin typeface="Calibri"/>
                <a:ea typeface="Calibri"/>
                <a:cs typeface="Calibri"/>
                <a:sym typeface="Calibri"/>
              </a:rPr>
              <a:t>— </a:t>
            </a:r>
            <a:r>
              <a:rPr b="1" lang="en" sz="4400">
                <a:solidFill>
                  <a:schemeClr val="dk1"/>
                </a:solidFill>
                <a:latin typeface="Calibri"/>
                <a:ea typeface="Calibri"/>
                <a:cs typeface="Calibri"/>
                <a:sym typeface="Calibri"/>
              </a:rPr>
              <a:t>A Code-able Game</a:t>
            </a:r>
            <a:endParaRPr/>
          </a:p>
        </p:txBody>
      </p:sp>
      <p:pic>
        <p:nvPicPr>
          <p:cNvPr id="130" name="Google Shape;130;p25" title="LoadScreenBorder.png"/>
          <p:cNvPicPr preferRelativeResize="0"/>
          <p:nvPr/>
        </p:nvPicPr>
        <p:blipFill>
          <a:blip r:embed="rId3">
            <a:alphaModFix/>
          </a:blip>
          <a:stretch>
            <a:fillRect/>
          </a:stretch>
        </p:blipFill>
        <p:spPr>
          <a:xfrm>
            <a:off x="845700" y="1112400"/>
            <a:ext cx="3726301" cy="3726301"/>
          </a:xfrm>
          <a:prstGeom prst="rect">
            <a:avLst/>
          </a:prstGeom>
          <a:noFill/>
          <a:ln>
            <a:noFill/>
          </a:ln>
        </p:spPr>
      </p:pic>
      <p:sp>
        <p:nvSpPr>
          <p:cNvPr id="131" name="Google Shape;131;p25"/>
          <p:cNvSpPr txBox="1"/>
          <p:nvPr/>
        </p:nvSpPr>
        <p:spPr>
          <a:xfrm>
            <a:off x="4636725" y="1538800"/>
            <a:ext cx="4416000" cy="226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2250">
                <a:solidFill>
                  <a:srgbClr val="242424"/>
                </a:solidFill>
                <a:highlight>
                  <a:srgbClr val="FFFFFF"/>
                </a:highlight>
                <a:latin typeface="Calibri"/>
                <a:ea typeface="Calibri"/>
                <a:cs typeface="Calibri"/>
                <a:sym typeface="Calibri"/>
              </a:rPr>
              <a:t>Modul 63081</a:t>
            </a:r>
            <a:endParaRPr b="1" sz="2250">
              <a:solidFill>
                <a:srgbClr val="242424"/>
              </a:solidFill>
              <a:highlight>
                <a:srgbClr val="FFFFFF"/>
              </a:highlight>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lang="en" sz="2250">
                <a:solidFill>
                  <a:srgbClr val="242424"/>
                </a:solidFill>
                <a:highlight>
                  <a:srgbClr val="FFFFFF"/>
                </a:highlight>
                <a:latin typeface="Calibri"/>
                <a:ea typeface="Calibri"/>
                <a:cs typeface="Calibri"/>
                <a:sym typeface="Calibri"/>
              </a:rPr>
              <a:t>   Grundpraktikum Programmierung</a:t>
            </a:r>
            <a:endParaRPr b="1" sz="2250">
              <a:solidFill>
                <a:srgbClr val="242424"/>
              </a:solidFill>
              <a:highlight>
                <a:srgbClr val="FFFFFF"/>
              </a:highlight>
              <a:latin typeface="Calibri"/>
              <a:ea typeface="Calibri"/>
              <a:cs typeface="Calibri"/>
              <a:sym typeface="Calibri"/>
            </a:endParaRPr>
          </a:p>
          <a:p>
            <a:pPr indent="0" lvl="0" marL="0" rtl="0" algn="ctr">
              <a:spcBef>
                <a:spcPts val="0"/>
              </a:spcBef>
              <a:spcAft>
                <a:spcPts val="0"/>
              </a:spcAft>
              <a:buNone/>
            </a:pPr>
            <a:r>
              <a:rPr b="1" lang="en" sz="2250">
                <a:solidFill>
                  <a:srgbClr val="242424"/>
                </a:solidFill>
                <a:highlight>
                  <a:srgbClr val="FFFFFF"/>
                </a:highlight>
                <a:latin typeface="Calibri"/>
                <a:ea typeface="Calibri"/>
                <a:cs typeface="Calibri"/>
                <a:sym typeface="Calibri"/>
              </a:rPr>
              <a:t>   </a:t>
            </a:r>
            <a:r>
              <a:rPr lang="en" sz="2250">
                <a:solidFill>
                  <a:srgbClr val="242424"/>
                </a:solidFill>
                <a:highlight>
                  <a:srgbClr val="FFFFFF"/>
                </a:highlight>
                <a:latin typeface="Calibri"/>
                <a:ea typeface="Calibri"/>
                <a:cs typeface="Calibri"/>
                <a:sym typeface="Calibri"/>
              </a:rPr>
              <a:t>Prof. Herwig Unger </a:t>
            </a:r>
            <a:endParaRPr sz="2250">
              <a:solidFill>
                <a:srgbClr val="242424"/>
              </a:solidFill>
              <a:highlight>
                <a:srgbClr val="FFFFFF"/>
              </a:highlight>
              <a:latin typeface="Calibri"/>
              <a:ea typeface="Calibri"/>
              <a:cs typeface="Calibri"/>
              <a:sym typeface="Calibri"/>
            </a:endParaRPr>
          </a:p>
          <a:p>
            <a:pPr indent="0" lvl="0" marL="0" rtl="0" algn="ctr">
              <a:spcBef>
                <a:spcPts val="0"/>
              </a:spcBef>
              <a:spcAft>
                <a:spcPts val="0"/>
              </a:spcAft>
              <a:buNone/>
            </a:pPr>
            <a:r>
              <a:rPr lang="en" sz="2250">
                <a:solidFill>
                  <a:srgbClr val="242424"/>
                </a:solidFill>
                <a:highlight>
                  <a:srgbClr val="FFFFFF"/>
                </a:highlight>
                <a:latin typeface="Calibri"/>
                <a:ea typeface="Calibri"/>
                <a:cs typeface="Calibri"/>
                <a:sym typeface="Calibri"/>
              </a:rPr>
              <a:t>Timothy Harrison </a:t>
            </a:r>
            <a:endParaRPr sz="2250">
              <a:solidFill>
                <a:srgbClr val="242424"/>
              </a:solidFill>
              <a:highlight>
                <a:srgbClr val="FFFFFF"/>
              </a:highlight>
              <a:latin typeface="Calibri"/>
              <a:ea typeface="Calibri"/>
              <a:cs typeface="Calibri"/>
              <a:sym typeface="Calibri"/>
            </a:endParaRPr>
          </a:p>
          <a:p>
            <a:pPr indent="0" lvl="0" marL="0" rtl="0" algn="ctr">
              <a:spcBef>
                <a:spcPts val="0"/>
              </a:spcBef>
              <a:spcAft>
                <a:spcPts val="0"/>
              </a:spcAft>
              <a:buNone/>
            </a:pPr>
            <a:r>
              <a:rPr lang="en" sz="2250">
                <a:solidFill>
                  <a:srgbClr val="242424"/>
                </a:solidFill>
                <a:highlight>
                  <a:srgbClr val="FFFFFF"/>
                </a:highlight>
                <a:latin typeface="Calibri"/>
                <a:ea typeface="Calibri"/>
                <a:cs typeface="Calibri"/>
                <a:sym typeface="Calibri"/>
              </a:rPr>
              <a:t>Marcel Schaible </a:t>
            </a:r>
            <a:endParaRPr sz="2250">
              <a:solidFill>
                <a:srgbClr val="242424"/>
              </a:solidFill>
              <a:highlight>
                <a:srgbClr val="FFFFFF"/>
              </a:highlight>
              <a:latin typeface="Calibri"/>
              <a:ea typeface="Calibri"/>
              <a:cs typeface="Calibri"/>
              <a:sym typeface="Calibri"/>
            </a:endParaRPr>
          </a:p>
          <a:p>
            <a:pPr indent="0" lvl="0" marL="0" rtl="0" algn="ctr">
              <a:spcBef>
                <a:spcPts val="0"/>
              </a:spcBef>
              <a:spcAft>
                <a:spcPts val="0"/>
              </a:spcAft>
              <a:buNone/>
            </a:pPr>
            <a:r>
              <a:rPr lang="en" sz="2250">
                <a:solidFill>
                  <a:srgbClr val="242424"/>
                </a:solidFill>
                <a:highlight>
                  <a:srgbClr val="FFFFFF"/>
                </a:highlight>
                <a:latin typeface="Calibri"/>
                <a:ea typeface="Calibri"/>
                <a:cs typeface="Calibri"/>
                <a:sym typeface="Calibri"/>
              </a:rPr>
              <a:t>Andrea Frank</a:t>
            </a:r>
            <a:endParaRPr sz="3900">
              <a:solidFill>
                <a:schemeClr val="dk1"/>
              </a:solidFill>
              <a:latin typeface="Calibri"/>
              <a:ea typeface="Calibri"/>
              <a:cs typeface="Calibri"/>
              <a:sym typeface="Calibri"/>
            </a:endParaRPr>
          </a:p>
        </p:txBody>
      </p:sp>
      <p:sp>
        <p:nvSpPr>
          <p:cNvPr id="132" name="Google Shape;132;p25"/>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What we’ll cover in this presentation</a:t>
            </a:r>
            <a:endParaRPr/>
          </a:p>
        </p:txBody>
      </p:sp>
      <p:sp>
        <p:nvSpPr>
          <p:cNvPr id="138" name="Google Shape;138;p26"/>
          <p:cNvSpPr txBox="1"/>
          <p:nvPr/>
        </p:nvSpPr>
        <p:spPr>
          <a:xfrm>
            <a:off x="530480" y="1052520"/>
            <a:ext cx="7498200" cy="34170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Introduction to RINGwars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The Rules of the Game</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How the game is played</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How agents interact with the game</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Illegal moves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The Class and Competition</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Submission Requirements</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Group Phase</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Knockout Phase</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OS Requirements and GUI Details</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Required OS and Programming Language</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How-to Guide for the GUI</a:t>
            </a:r>
            <a:endParaRPr sz="1800">
              <a:solidFill>
                <a:schemeClr val="dk1"/>
              </a:solidFill>
              <a:latin typeface="Calibri"/>
              <a:ea typeface="Calibri"/>
              <a:cs typeface="Calibri"/>
              <a:sym typeface="Calibri"/>
            </a:endParaRPr>
          </a:p>
        </p:txBody>
      </p:sp>
      <p:pic>
        <p:nvPicPr>
          <p:cNvPr descr="slime_red.png" id="139" name="Google Shape;139;p26"/>
          <p:cNvPicPr preferRelativeResize="0"/>
          <p:nvPr/>
        </p:nvPicPr>
        <p:blipFill rotWithShape="1">
          <a:blip r:embed="rId3">
            <a:alphaModFix/>
          </a:blip>
          <a:srcRect b="0" l="0" r="0" t="0"/>
          <a:stretch/>
        </p:blipFill>
        <p:spPr>
          <a:xfrm>
            <a:off x="5747097" y="1687455"/>
            <a:ext cx="2358150" cy="1768600"/>
          </a:xfrm>
          <a:prstGeom prst="rect">
            <a:avLst/>
          </a:prstGeom>
          <a:noFill/>
          <a:ln>
            <a:noFill/>
          </a:ln>
        </p:spPr>
      </p:pic>
      <p:pic>
        <p:nvPicPr>
          <p:cNvPr id="140" name="Google Shape;140;p26" title="angryEyebrowFace.gif"/>
          <p:cNvPicPr preferRelativeResize="0"/>
          <p:nvPr/>
        </p:nvPicPr>
        <p:blipFill>
          <a:blip r:embed="rId4">
            <a:alphaModFix/>
          </a:blip>
          <a:stretch>
            <a:fillRect/>
          </a:stretch>
        </p:blipFill>
        <p:spPr>
          <a:xfrm>
            <a:off x="6416500" y="2344900"/>
            <a:ext cx="683450" cy="683450"/>
          </a:xfrm>
          <a:prstGeom prst="rect">
            <a:avLst/>
          </a:prstGeom>
          <a:noFill/>
          <a:ln>
            <a:noFill/>
          </a:ln>
        </p:spPr>
      </p:pic>
      <p:pic>
        <p:nvPicPr>
          <p:cNvPr descr="slime_yellow.png" id="141" name="Google Shape;141;p26"/>
          <p:cNvPicPr preferRelativeResize="0"/>
          <p:nvPr/>
        </p:nvPicPr>
        <p:blipFill rotWithShape="1">
          <a:blip r:embed="rId5">
            <a:alphaModFix/>
          </a:blip>
          <a:srcRect b="0" l="0" r="0" t="0"/>
          <a:stretch/>
        </p:blipFill>
        <p:spPr>
          <a:xfrm>
            <a:off x="4966126" y="889925"/>
            <a:ext cx="1574700" cy="1181025"/>
          </a:xfrm>
          <a:prstGeom prst="rect">
            <a:avLst/>
          </a:prstGeom>
          <a:noFill/>
          <a:ln>
            <a:noFill/>
          </a:ln>
        </p:spPr>
      </p:pic>
      <p:pic>
        <p:nvPicPr>
          <p:cNvPr id="142" name="Google Shape;142;p26" title="cartoonFace.gif"/>
          <p:cNvPicPr preferRelativeResize="0"/>
          <p:nvPr/>
        </p:nvPicPr>
        <p:blipFill>
          <a:blip r:embed="rId6">
            <a:alphaModFix/>
          </a:blip>
          <a:stretch>
            <a:fillRect/>
          </a:stretch>
        </p:blipFill>
        <p:spPr>
          <a:xfrm>
            <a:off x="5583225" y="1205806"/>
            <a:ext cx="549250" cy="549250"/>
          </a:xfrm>
          <a:prstGeom prst="rect">
            <a:avLst/>
          </a:prstGeom>
          <a:noFill/>
          <a:ln>
            <a:noFill/>
          </a:ln>
        </p:spPr>
      </p:pic>
      <p:pic>
        <p:nvPicPr>
          <p:cNvPr descr="slime_blue.png" id="143" name="Google Shape;143;p26"/>
          <p:cNvPicPr preferRelativeResize="0"/>
          <p:nvPr/>
        </p:nvPicPr>
        <p:blipFill rotWithShape="1">
          <a:blip r:embed="rId7">
            <a:alphaModFix/>
          </a:blip>
          <a:srcRect b="0" l="0" r="0" t="0"/>
          <a:stretch/>
        </p:blipFill>
        <p:spPr>
          <a:xfrm>
            <a:off x="5747100" y="3502349"/>
            <a:ext cx="1659172" cy="1244375"/>
          </a:xfrm>
          <a:prstGeom prst="rect">
            <a:avLst/>
          </a:prstGeom>
          <a:noFill/>
          <a:ln>
            <a:noFill/>
          </a:ln>
        </p:spPr>
      </p:pic>
      <p:pic>
        <p:nvPicPr>
          <p:cNvPr id="144" name="Google Shape;144;p26" title="crosseyedFace.gif"/>
          <p:cNvPicPr preferRelativeResize="0"/>
          <p:nvPr/>
        </p:nvPicPr>
        <p:blipFill>
          <a:blip r:embed="rId8">
            <a:alphaModFix/>
          </a:blip>
          <a:stretch>
            <a:fillRect/>
          </a:stretch>
        </p:blipFill>
        <p:spPr>
          <a:xfrm>
            <a:off x="6496451" y="3870829"/>
            <a:ext cx="683450" cy="683416"/>
          </a:xfrm>
          <a:prstGeom prst="rect">
            <a:avLst/>
          </a:prstGeom>
          <a:noFill/>
          <a:ln>
            <a:noFill/>
          </a:ln>
        </p:spPr>
      </p:pic>
      <p:sp>
        <p:nvSpPr>
          <p:cNvPr id="145" name="Google Shape;145;p26"/>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nvSpPr>
        <p:spPr>
          <a:xfrm>
            <a:off x="457200" y="274320"/>
            <a:ext cx="7772400" cy="82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400" u="none" cap="none" strike="noStrike">
                <a:solidFill>
                  <a:schemeClr val="dk1"/>
                </a:solidFill>
                <a:latin typeface="Calibri"/>
                <a:ea typeface="Calibri"/>
                <a:cs typeface="Calibri"/>
                <a:sym typeface="Calibri"/>
              </a:rPr>
              <a:t>What is RINGwars?</a:t>
            </a:r>
            <a:endParaRPr/>
          </a:p>
        </p:txBody>
      </p:sp>
      <p:sp>
        <p:nvSpPr>
          <p:cNvPr id="151" name="Google Shape;151;p27"/>
          <p:cNvSpPr txBox="1"/>
          <p:nvPr/>
        </p:nvSpPr>
        <p:spPr>
          <a:xfrm>
            <a:off x="594305" y="846920"/>
            <a:ext cx="7498200" cy="1569900"/>
          </a:xfrm>
          <a:prstGeom prst="rect">
            <a:avLst/>
          </a:prstGeom>
          <a:noFill/>
          <a:ln>
            <a:noFill/>
          </a:ln>
        </p:spPr>
        <p:txBody>
          <a:bodyPr anchorCtr="0" anchor="t" bIns="45700" lIns="91425" spcFirstLastPara="1" rIns="91425" wrap="square" tIns="45700">
            <a:spAutoFit/>
          </a:bodyPr>
          <a:lstStyle/>
          <a:p>
            <a:pPr indent="-330200" lvl="0" marL="457200" marR="0" rtl="0" algn="l">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Two p</a:t>
            </a:r>
            <a:r>
              <a:rPr b="0" i="0" lang="en" sz="1600" u="none" cap="none" strike="noStrike">
                <a:solidFill>
                  <a:schemeClr val="dk1"/>
                </a:solidFill>
                <a:latin typeface="Calibri"/>
                <a:ea typeface="Calibri"/>
                <a:cs typeface="Calibri"/>
                <a:sym typeface="Calibri"/>
              </a:rPr>
              <a:t>layers </a:t>
            </a:r>
            <a:r>
              <a:rPr lang="en" sz="1600">
                <a:solidFill>
                  <a:schemeClr val="dk1"/>
                </a:solidFill>
                <a:latin typeface="Calibri"/>
                <a:ea typeface="Calibri"/>
                <a:cs typeface="Calibri"/>
                <a:sym typeface="Calibri"/>
              </a:rPr>
              <a:t>create</a:t>
            </a:r>
            <a:r>
              <a:rPr b="0" i="0" lang="en" sz="1600" u="none" cap="none" strike="noStrike">
                <a:solidFill>
                  <a:schemeClr val="dk1"/>
                </a:solidFill>
                <a:latin typeface="Calibri"/>
                <a:ea typeface="Calibri"/>
                <a:cs typeface="Calibri"/>
                <a:sym typeface="Calibri"/>
              </a:rPr>
              <a:t> agents that compete on a ring of nodes.</a:t>
            </a:r>
            <a:endParaRPr sz="1200"/>
          </a:p>
          <a:p>
            <a:pPr indent="-330200" lvl="0" marL="457200" marR="0" rtl="0" algn="l">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Win by conquering all nodes or eliminating your opponent.</a:t>
            </a:r>
            <a:endParaRPr sz="1600">
              <a:solidFill>
                <a:schemeClr val="dk1"/>
              </a:solidFill>
              <a:latin typeface="Calibri"/>
              <a:ea typeface="Calibri"/>
              <a:cs typeface="Calibri"/>
              <a:sym typeface="Calibri"/>
            </a:endParaRPr>
          </a:p>
          <a:p>
            <a:pPr indent="-330200" lvl="1" marL="914400" marR="0" rtl="0" algn="l">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If neither agent is victorious by turn 10000 the game is considered a draw</a:t>
            </a:r>
            <a:endParaRPr sz="1600">
              <a:solidFill>
                <a:schemeClr val="dk1"/>
              </a:solidFill>
              <a:latin typeface="Calibri"/>
              <a:ea typeface="Calibri"/>
              <a:cs typeface="Calibri"/>
              <a:sym typeface="Calibri"/>
            </a:endParaRPr>
          </a:p>
          <a:p>
            <a:pPr indent="-330200" lvl="0" marL="457200" marR="0" rtl="0" algn="l">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Agents interact with the ring world by reading and writing simple txt files</a:t>
            </a:r>
            <a:endParaRPr sz="1600">
              <a:solidFill>
                <a:schemeClr val="dk1"/>
              </a:solidFill>
              <a:latin typeface="Calibri"/>
              <a:ea typeface="Calibri"/>
              <a:cs typeface="Calibri"/>
              <a:sym typeface="Calibri"/>
            </a:endParaRPr>
          </a:p>
          <a:p>
            <a:pPr indent="-330200" lvl="0" marL="457200" marR="0" rtl="0" algn="l">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Turns resolve simultaneously; after moves, resolution phases handle battles and control changes.</a:t>
            </a:r>
            <a:endParaRPr sz="1200"/>
          </a:p>
        </p:txBody>
      </p:sp>
      <p:pic>
        <p:nvPicPr>
          <p:cNvPr id="152" name="Google Shape;152;p27" title="start.png"/>
          <p:cNvPicPr preferRelativeResize="0"/>
          <p:nvPr/>
        </p:nvPicPr>
        <p:blipFill>
          <a:blip r:embed="rId3">
            <a:alphaModFix/>
          </a:blip>
          <a:stretch>
            <a:fillRect/>
          </a:stretch>
        </p:blipFill>
        <p:spPr>
          <a:xfrm>
            <a:off x="701225" y="2413020"/>
            <a:ext cx="2485950" cy="2514280"/>
          </a:xfrm>
          <a:prstGeom prst="rect">
            <a:avLst/>
          </a:prstGeom>
          <a:noFill/>
          <a:ln>
            <a:noFill/>
          </a:ln>
        </p:spPr>
      </p:pic>
      <p:pic>
        <p:nvPicPr>
          <p:cNvPr id="153" name="Google Shape;153;p27" title="playing.png"/>
          <p:cNvPicPr preferRelativeResize="0"/>
          <p:nvPr/>
        </p:nvPicPr>
        <p:blipFill>
          <a:blip r:embed="rId4">
            <a:alphaModFix/>
          </a:blip>
          <a:stretch>
            <a:fillRect/>
          </a:stretch>
        </p:blipFill>
        <p:spPr>
          <a:xfrm>
            <a:off x="3352325" y="2476820"/>
            <a:ext cx="2592517" cy="2514279"/>
          </a:xfrm>
          <a:prstGeom prst="rect">
            <a:avLst/>
          </a:prstGeom>
          <a:noFill/>
          <a:ln>
            <a:noFill/>
          </a:ln>
        </p:spPr>
      </p:pic>
      <p:pic>
        <p:nvPicPr>
          <p:cNvPr id="154" name="Google Shape;154;p27" title="late.png"/>
          <p:cNvPicPr preferRelativeResize="0"/>
          <p:nvPr/>
        </p:nvPicPr>
        <p:blipFill>
          <a:blip r:embed="rId5">
            <a:alphaModFix/>
          </a:blip>
          <a:stretch>
            <a:fillRect/>
          </a:stretch>
        </p:blipFill>
        <p:spPr>
          <a:xfrm>
            <a:off x="6109993" y="2413020"/>
            <a:ext cx="2642851" cy="2514280"/>
          </a:xfrm>
          <a:prstGeom prst="rect">
            <a:avLst/>
          </a:prstGeom>
          <a:noFill/>
          <a:ln>
            <a:noFill/>
          </a:ln>
        </p:spPr>
      </p:pic>
      <p:sp>
        <p:nvSpPr>
          <p:cNvPr id="155" name="Google Shape;155;p27"/>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Game Rules</a:t>
            </a:r>
            <a:endParaRPr/>
          </a:p>
        </p:txBody>
      </p:sp>
      <p:sp>
        <p:nvSpPr>
          <p:cNvPr id="161" name="Google Shape;161;p28"/>
          <p:cNvSpPr txBox="1"/>
          <p:nvPr/>
        </p:nvSpPr>
        <p:spPr>
          <a:xfrm>
            <a:off x="594305" y="1971445"/>
            <a:ext cx="7498200" cy="28629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Basic Gameplay</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How the game starts</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What happens each turn</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How battles work</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Agent-RING Interactions</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How agents interact with the RING world</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What constitutes an “illegal” move</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Misc</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Strategies for winning</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What counts as cheating</a:t>
            </a:r>
            <a:endParaRPr sz="1800">
              <a:solidFill>
                <a:schemeClr val="dk1"/>
              </a:solidFill>
              <a:latin typeface="Calibri"/>
              <a:ea typeface="Calibri"/>
              <a:cs typeface="Calibri"/>
              <a:sym typeface="Calibri"/>
            </a:endParaRPr>
          </a:p>
        </p:txBody>
      </p:sp>
      <p:pic>
        <p:nvPicPr>
          <p:cNvPr descr="slime_red.png" id="162" name="Google Shape;162;p28"/>
          <p:cNvPicPr preferRelativeResize="0"/>
          <p:nvPr/>
        </p:nvPicPr>
        <p:blipFill rotWithShape="1">
          <a:blip r:embed="rId3">
            <a:alphaModFix/>
          </a:blip>
          <a:srcRect b="0" l="0" r="0" t="0"/>
          <a:stretch/>
        </p:blipFill>
        <p:spPr>
          <a:xfrm>
            <a:off x="4667100" y="1351600"/>
            <a:ext cx="1970850" cy="1478150"/>
          </a:xfrm>
          <a:prstGeom prst="rect">
            <a:avLst/>
          </a:prstGeom>
          <a:noFill/>
          <a:ln>
            <a:noFill/>
          </a:ln>
        </p:spPr>
      </p:pic>
      <p:sp>
        <p:nvSpPr>
          <p:cNvPr id="163" name="Google Shape;163;p28"/>
          <p:cNvSpPr txBox="1"/>
          <p:nvPr/>
        </p:nvSpPr>
        <p:spPr>
          <a:xfrm>
            <a:off x="731405" y="987945"/>
            <a:ext cx="7498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The following slides describe the rules of RINGwars. These rules fall into 3 </a:t>
            </a:r>
            <a:r>
              <a:rPr lang="en" sz="1800">
                <a:solidFill>
                  <a:schemeClr val="dk1"/>
                </a:solidFill>
                <a:latin typeface="Calibri"/>
                <a:ea typeface="Calibri"/>
                <a:cs typeface="Calibri"/>
                <a:sym typeface="Calibri"/>
              </a:rPr>
              <a:t>categories</a:t>
            </a:r>
            <a:r>
              <a:rPr lang="en"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pic>
        <p:nvPicPr>
          <p:cNvPr descr="slime_blue.png" id="164" name="Google Shape;164;p28"/>
          <p:cNvPicPr preferRelativeResize="0"/>
          <p:nvPr/>
        </p:nvPicPr>
        <p:blipFill rotWithShape="1">
          <a:blip r:embed="rId4">
            <a:alphaModFix/>
          </a:blip>
          <a:srcRect b="0" l="0" r="0" t="0"/>
          <a:stretch/>
        </p:blipFill>
        <p:spPr>
          <a:xfrm>
            <a:off x="6446575" y="2154475"/>
            <a:ext cx="2383450" cy="1787575"/>
          </a:xfrm>
          <a:prstGeom prst="rect">
            <a:avLst/>
          </a:prstGeom>
          <a:noFill/>
          <a:ln>
            <a:noFill/>
          </a:ln>
        </p:spPr>
      </p:pic>
      <p:pic>
        <p:nvPicPr>
          <p:cNvPr descr="slime_yellow.png" id="165" name="Google Shape;165;p28"/>
          <p:cNvPicPr preferRelativeResize="0"/>
          <p:nvPr/>
        </p:nvPicPr>
        <p:blipFill rotWithShape="1">
          <a:blip r:embed="rId5">
            <a:alphaModFix/>
          </a:blip>
          <a:srcRect b="0" l="0" r="0" t="0"/>
          <a:stretch/>
        </p:blipFill>
        <p:spPr>
          <a:xfrm>
            <a:off x="4983550" y="3824400"/>
            <a:ext cx="1758800" cy="1319100"/>
          </a:xfrm>
          <a:prstGeom prst="rect">
            <a:avLst/>
          </a:prstGeom>
          <a:noFill/>
          <a:ln>
            <a:noFill/>
          </a:ln>
        </p:spPr>
      </p:pic>
      <p:pic>
        <p:nvPicPr>
          <p:cNvPr id="166" name="Google Shape;166;p28" title="angryTongueFace.gif"/>
          <p:cNvPicPr preferRelativeResize="0"/>
          <p:nvPr/>
        </p:nvPicPr>
        <p:blipFill>
          <a:blip r:embed="rId6">
            <a:alphaModFix/>
          </a:blip>
          <a:stretch>
            <a:fillRect/>
          </a:stretch>
        </p:blipFill>
        <p:spPr>
          <a:xfrm>
            <a:off x="7090275" y="2829750"/>
            <a:ext cx="615600" cy="615600"/>
          </a:xfrm>
          <a:prstGeom prst="rect">
            <a:avLst/>
          </a:prstGeom>
          <a:noFill/>
          <a:ln>
            <a:noFill/>
          </a:ln>
        </p:spPr>
      </p:pic>
      <p:pic>
        <p:nvPicPr>
          <p:cNvPr id="167" name="Google Shape;167;p28" title="cartoonFace.gif"/>
          <p:cNvPicPr preferRelativeResize="0"/>
          <p:nvPr/>
        </p:nvPicPr>
        <p:blipFill>
          <a:blip r:embed="rId7">
            <a:alphaModFix/>
          </a:blip>
          <a:stretch>
            <a:fillRect/>
          </a:stretch>
        </p:blipFill>
        <p:spPr>
          <a:xfrm>
            <a:off x="5932650" y="4187838"/>
            <a:ext cx="592225" cy="592225"/>
          </a:xfrm>
          <a:prstGeom prst="rect">
            <a:avLst/>
          </a:prstGeom>
          <a:noFill/>
          <a:ln>
            <a:noFill/>
          </a:ln>
        </p:spPr>
      </p:pic>
      <p:pic>
        <p:nvPicPr>
          <p:cNvPr id="168" name="Google Shape;168;p28" title="crosseyedFace.gif"/>
          <p:cNvPicPr preferRelativeResize="0"/>
          <p:nvPr/>
        </p:nvPicPr>
        <p:blipFill>
          <a:blip r:embed="rId8">
            <a:alphaModFix/>
          </a:blip>
          <a:stretch>
            <a:fillRect/>
          </a:stretch>
        </p:blipFill>
        <p:spPr>
          <a:xfrm>
            <a:off x="5478250" y="1802295"/>
            <a:ext cx="769384" cy="769450"/>
          </a:xfrm>
          <a:prstGeom prst="rect">
            <a:avLst/>
          </a:prstGeom>
          <a:noFill/>
          <a:ln>
            <a:noFill/>
          </a:ln>
        </p:spPr>
      </p:pic>
      <p:sp>
        <p:nvSpPr>
          <p:cNvPr id="169" name="Google Shape;169;p28"/>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nvSpPr>
        <p:spPr>
          <a:xfrm>
            <a:off x="457200" y="274320"/>
            <a:ext cx="777240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Starting State &amp; Control</a:t>
            </a:r>
            <a:endParaRPr/>
          </a:p>
        </p:txBody>
      </p:sp>
      <p:sp>
        <p:nvSpPr>
          <p:cNvPr id="175" name="Google Shape;175;p29"/>
          <p:cNvSpPr txBox="1"/>
          <p:nvPr/>
        </p:nvSpPr>
        <p:spPr>
          <a:xfrm>
            <a:off x="614550" y="1228150"/>
            <a:ext cx="5119800" cy="31401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Agents </a:t>
            </a:r>
            <a:r>
              <a:rPr lang="en" sz="1800">
                <a:solidFill>
                  <a:schemeClr val="dk1"/>
                </a:solidFill>
                <a:latin typeface="Calibri"/>
                <a:ea typeface="Calibri"/>
                <a:cs typeface="Calibri"/>
                <a:sym typeface="Calibri"/>
              </a:rPr>
              <a:t>initially</a:t>
            </a:r>
            <a:r>
              <a:rPr lang="en" sz="1800">
                <a:solidFill>
                  <a:schemeClr val="dk1"/>
                </a:solidFill>
                <a:latin typeface="Calibri"/>
                <a:ea typeface="Calibri"/>
                <a:cs typeface="Calibri"/>
                <a:sym typeface="Calibri"/>
              </a:rPr>
              <a:t> control a single node each on opposite sides of the ring</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Each agent has an equal number of starting fernies on their </a:t>
            </a:r>
            <a:r>
              <a:rPr lang="en" sz="1800">
                <a:solidFill>
                  <a:schemeClr val="dk1"/>
                </a:solidFill>
                <a:latin typeface="Calibri"/>
                <a:ea typeface="Calibri"/>
                <a:cs typeface="Calibri"/>
                <a:sym typeface="Calibri"/>
              </a:rPr>
              <a:t>initial</a:t>
            </a:r>
            <a:r>
              <a:rPr lang="en" sz="1800">
                <a:solidFill>
                  <a:schemeClr val="dk1"/>
                </a:solidFill>
                <a:latin typeface="Calibri"/>
                <a:ea typeface="Calibri"/>
                <a:cs typeface="Calibri"/>
                <a:sym typeface="Calibri"/>
              </a:rPr>
              <a:t> node</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All other nodes are uncontrolled</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Nodes become controlled by placing Fernies on them</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Agents only have knowledge about nodes within a fixed range of nodes they control</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If you remove all fernies from a node, it returns to being uncontrolled</a:t>
            </a:r>
            <a:endParaRPr sz="1800">
              <a:solidFill>
                <a:schemeClr val="dk1"/>
              </a:solidFill>
              <a:latin typeface="Calibri"/>
              <a:ea typeface="Calibri"/>
              <a:cs typeface="Calibri"/>
              <a:sym typeface="Calibri"/>
            </a:endParaRPr>
          </a:p>
        </p:txBody>
      </p:sp>
      <p:pic>
        <p:nvPicPr>
          <p:cNvPr id="176" name="Google Shape;176;p29" title="start.png"/>
          <p:cNvPicPr preferRelativeResize="0"/>
          <p:nvPr/>
        </p:nvPicPr>
        <p:blipFill>
          <a:blip r:embed="rId3">
            <a:alphaModFix/>
          </a:blip>
          <a:stretch>
            <a:fillRect/>
          </a:stretch>
        </p:blipFill>
        <p:spPr>
          <a:xfrm>
            <a:off x="6015177" y="1097275"/>
            <a:ext cx="2580050" cy="2609451"/>
          </a:xfrm>
          <a:prstGeom prst="rect">
            <a:avLst/>
          </a:prstGeom>
          <a:noFill/>
          <a:ln>
            <a:noFill/>
          </a:ln>
        </p:spPr>
      </p:pic>
      <p:sp>
        <p:nvSpPr>
          <p:cNvPr id="177" name="Google Shape;177;p29"/>
          <p:cNvSpPr txBox="1"/>
          <p:nvPr/>
        </p:nvSpPr>
        <p:spPr>
          <a:xfrm>
            <a:off x="5832950" y="3848900"/>
            <a:ext cx="29445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1"/>
                </a:solidFill>
                <a:latin typeface="Calibri"/>
                <a:ea typeface="Calibri"/>
                <a:cs typeface="Calibri"/>
                <a:sym typeface="Calibri"/>
              </a:rPr>
              <a:t>Starting state of the game. </a:t>
            </a:r>
            <a:endParaRPr sz="1100">
              <a:solidFill>
                <a:schemeClr val="dk1"/>
              </a:solidFill>
              <a:latin typeface="Calibri"/>
              <a:ea typeface="Calibri"/>
              <a:cs typeface="Calibri"/>
              <a:sym typeface="Calibri"/>
            </a:endParaRPr>
          </a:p>
        </p:txBody>
      </p:sp>
      <p:sp>
        <p:nvSpPr>
          <p:cNvPr id="178" name="Google Shape;178;p29"/>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nvSpPr>
        <p:spPr>
          <a:xfrm>
            <a:off x="457200" y="342900"/>
            <a:ext cx="82296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Taking a turn</a:t>
            </a:r>
            <a:endParaRPr/>
          </a:p>
        </p:txBody>
      </p:sp>
      <p:sp>
        <p:nvSpPr>
          <p:cNvPr id="184" name="Google Shape;184;p30"/>
          <p:cNvSpPr txBox="1"/>
          <p:nvPr/>
        </p:nvSpPr>
        <p:spPr>
          <a:xfrm>
            <a:off x="640075" y="1097276"/>
            <a:ext cx="7680900" cy="2308800"/>
          </a:xfrm>
          <a:prstGeom prst="rect">
            <a:avLst/>
          </a:prstGeom>
          <a:noFill/>
          <a:ln>
            <a:noFill/>
          </a:ln>
        </p:spPr>
        <p:txBody>
          <a:bodyPr anchorCtr="0" anchor="t" bIns="45700" lIns="91425" spcFirstLastPara="1" rIns="91425" wrap="square" tIns="45700">
            <a:spAutoFit/>
          </a:bodyPr>
          <a:lstStyle/>
          <a:p>
            <a:pPr indent="-330200" lvl="0" marL="457200" rtl="0" algn="l">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At the start of each turn agents </a:t>
            </a:r>
            <a:r>
              <a:rPr lang="en" sz="1600">
                <a:solidFill>
                  <a:schemeClr val="dk1"/>
                </a:solidFill>
                <a:latin typeface="Calibri"/>
                <a:ea typeface="Calibri"/>
                <a:cs typeface="Calibri"/>
                <a:sym typeface="Calibri"/>
              </a:rPr>
              <a:t>receive</a:t>
            </a:r>
            <a:r>
              <a:rPr lang="en" sz="1600">
                <a:solidFill>
                  <a:schemeClr val="dk1"/>
                </a:solidFill>
                <a:latin typeface="Calibri"/>
                <a:ea typeface="Calibri"/>
                <a:cs typeface="Calibri"/>
                <a:sym typeface="Calibri"/>
              </a:rPr>
              <a:t> new Fernies</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The number of new Fernies is determined by Fernie count and the number of nodes controlled at the start of the turn</a:t>
            </a:r>
            <a:endParaRPr sz="1600">
              <a:solidFill>
                <a:schemeClr val="dk1"/>
              </a:solidFill>
              <a:latin typeface="Calibri"/>
              <a:ea typeface="Calibri"/>
              <a:cs typeface="Calibri"/>
              <a:sym typeface="Calibri"/>
            </a:endParaRPr>
          </a:p>
          <a:p>
            <a:pPr indent="-330200" lvl="0" marL="457200" marR="0" rtl="0" algn="l">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New Fernies = Current Fernies × Growth Percentage × Node Ownership Bonus</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Once new Fernies are received agents can place these Fernies on the ring</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Pre existing Fernies can also be moved</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Only nodes within a fixed range of currently controlled nodes can have Fernies placed on them</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Nodes outside of this range are invisible to the agent.</a:t>
            </a:r>
            <a:endParaRPr sz="1600">
              <a:solidFill>
                <a:schemeClr val="dk1"/>
              </a:solidFill>
              <a:latin typeface="Calibri"/>
              <a:ea typeface="Calibri"/>
              <a:cs typeface="Calibri"/>
              <a:sym typeface="Calibri"/>
            </a:endParaRPr>
          </a:p>
        </p:txBody>
      </p:sp>
      <p:pic>
        <p:nvPicPr>
          <p:cNvPr descr="slime_blue.png" id="185" name="Google Shape;185;p30"/>
          <p:cNvPicPr preferRelativeResize="0"/>
          <p:nvPr/>
        </p:nvPicPr>
        <p:blipFill rotWithShape="1">
          <a:blip r:embed="rId3">
            <a:alphaModFix/>
          </a:blip>
          <a:srcRect b="0" l="0" r="0" t="0"/>
          <a:stretch/>
        </p:blipFill>
        <p:spPr>
          <a:xfrm>
            <a:off x="6558835" y="33485"/>
            <a:ext cx="1645920" cy="1234440"/>
          </a:xfrm>
          <a:prstGeom prst="rect">
            <a:avLst/>
          </a:prstGeom>
          <a:noFill/>
          <a:ln>
            <a:noFill/>
          </a:ln>
        </p:spPr>
      </p:pic>
      <p:sp>
        <p:nvSpPr>
          <p:cNvPr id="186" name="Google Shape;186;p30"/>
          <p:cNvSpPr/>
          <p:nvPr/>
        </p:nvSpPr>
        <p:spPr>
          <a:xfrm>
            <a:off x="640075" y="3822050"/>
            <a:ext cx="762900" cy="461100"/>
          </a:xfrm>
          <a:prstGeom prst="roundRect">
            <a:avLst>
              <a:gd fmla="val 16667" name="adj"/>
            </a:avLst>
          </a:prstGeom>
          <a:solidFill>
            <a:schemeClr val="lt1"/>
          </a:solidFill>
          <a:ln cap="flat" cmpd="sng" w="23725">
            <a:solidFill>
              <a:schemeClr val="dk1"/>
            </a:solidFill>
            <a:prstDash val="solid"/>
            <a:round/>
            <a:headEnd len="sm" w="sm" type="none"/>
            <a:tailEnd len="sm" w="sm" type="none"/>
          </a:ln>
        </p:spPr>
        <p:txBody>
          <a:bodyPr anchorCtr="0" anchor="ctr" bIns="56925" lIns="56925" spcFirstLastPara="1" rIns="56925" wrap="square" tIns="56925">
            <a:noAutofit/>
          </a:bodyPr>
          <a:lstStyle/>
          <a:p>
            <a:pPr indent="0" lvl="0" marL="0" rtl="0" algn="ctr">
              <a:spcBef>
                <a:spcPts val="0"/>
              </a:spcBef>
              <a:spcAft>
                <a:spcPts val="0"/>
              </a:spcAft>
              <a:buNone/>
            </a:pPr>
            <a:r>
              <a:rPr lang="en" sz="871">
                <a:latin typeface="Calibri"/>
                <a:ea typeface="Calibri"/>
                <a:cs typeface="Calibri"/>
                <a:sym typeface="Calibri"/>
              </a:rPr>
              <a:t>?</a:t>
            </a:r>
            <a:endParaRPr sz="871">
              <a:latin typeface="Calibri"/>
              <a:ea typeface="Calibri"/>
              <a:cs typeface="Calibri"/>
              <a:sym typeface="Calibri"/>
            </a:endParaRPr>
          </a:p>
        </p:txBody>
      </p:sp>
      <p:sp>
        <p:nvSpPr>
          <p:cNvPr id="187" name="Google Shape;187;p30"/>
          <p:cNvSpPr/>
          <p:nvPr/>
        </p:nvSpPr>
        <p:spPr>
          <a:xfrm>
            <a:off x="1513786" y="3822050"/>
            <a:ext cx="762900" cy="461100"/>
          </a:xfrm>
          <a:prstGeom prst="roundRect">
            <a:avLst>
              <a:gd fmla="val 16667" name="adj"/>
            </a:avLst>
          </a:prstGeom>
          <a:solidFill>
            <a:schemeClr val="lt1"/>
          </a:solidFill>
          <a:ln cap="flat" cmpd="sng" w="23725">
            <a:solidFill>
              <a:schemeClr val="dk1"/>
            </a:solidFill>
            <a:prstDash val="solid"/>
            <a:round/>
            <a:headEnd len="sm" w="sm" type="none"/>
            <a:tailEnd len="sm" w="sm" type="none"/>
          </a:ln>
        </p:spPr>
        <p:txBody>
          <a:bodyPr anchorCtr="0" anchor="ctr" bIns="56925" lIns="56925" spcFirstLastPara="1" rIns="56925" wrap="square" tIns="56925">
            <a:noAutofit/>
          </a:bodyPr>
          <a:lstStyle/>
          <a:p>
            <a:pPr indent="0" lvl="0" marL="0" rtl="0" algn="ctr">
              <a:spcBef>
                <a:spcPts val="0"/>
              </a:spcBef>
              <a:spcAft>
                <a:spcPts val="0"/>
              </a:spcAft>
              <a:buNone/>
            </a:pPr>
            <a:r>
              <a:rPr lang="en" sz="871">
                <a:latin typeface="Calibri"/>
                <a:ea typeface="Calibri"/>
                <a:cs typeface="Calibri"/>
                <a:sym typeface="Calibri"/>
              </a:rPr>
              <a:t>?</a:t>
            </a:r>
            <a:endParaRPr sz="871">
              <a:latin typeface="Calibri"/>
              <a:ea typeface="Calibri"/>
              <a:cs typeface="Calibri"/>
              <a:sym typeface="Calibri"/>
            </a:endParaRPr>
          </a:p>
        </p:txBody>
      </p:sp>
      <p:sp>
        <p:nvSpPr>
          <p:cNvPr id="188" name="Google Shape;188;p30"/>
          <p:cNvSpPr/>
          <p:nvPr/>
        </p:nvSpPr>
        <p:spPr>
          <a:xfrm>
            <a:off x="2387497" y="3822050"/>
            <a:ext cx="762900" cy="461100"/>
          </a:xfrm>
          <a:prstGeom prst="roundRect">
            <a:avLst>
              <a:gd fmla="val 16667" name="adj"/>
            </a:avLst>
          </a:prstGeom>
          <a:solidFill>
            <a:schemeClr val="lt1"/>
          </a:solidFill>
          <a:ln cap="flat" cmpd="sng" w="23725">
            <a:solidFill>
              <a:schemeClr val="dk1"/>
            </a:solidFill>
            <a:prstDash val="solid"/>
            <a:round/>
            <a:headEnd len="sm" w="sm" type="none"/>
            <a:tailEnd len="sm" w="sm" type="none"/>
          </a:ln>
        </p:spPr>
        <p:txBody>
          <a:bodyPr anchorCtr="0" anchor="ctr" bIns="56925" lIns="56925" spcFirstLastPara="1" rIns="56925" wrap="square" tIns="56925">
            <a:noAutofit/>
          </a:bodyPr>
          <a:lstStyle/>
          <a:p>
            <a:pPr indent="0" lvl="0" marL="0" rtl="0" algn="ctr">
              <a:spcBef>
                <a:spcPts val="0"/>
              </a:spcBef>
              <a:spcAft>
                <a:spcPts val="0"/>
              </a:spcAft>
              <a:buNone/>
            </a:pPr>
            <a:r>
              <a:rPr lang="en" sz="871">
                <a:latin typeface="Calibri"/>
                <a:ea typeface="Calibri"/>
                <a:cs typeface="Calibri"/>
                <a:sym typeface="Calibri"/>
              </a:rPr>
              <a:t>0</a:t>
            </a:r>
            <a:endParaRPr sz="871">
              <a:latin typeface="Calibri"/>
              <a:ea typeface="Calibri"/>
              <a:cs typeface="Calibri"/>
              <a:sym typeface="Calibri"/>
            </a:endParaRPr>
          </a:p>
        </p:txBody>
      </p:sp>
      <p:sp>
        <p:nvSpPr>
          <p:cNvPr id="189" name="Google Shape;189;p30"/>
          <p:cNvSpPr/>
          <p:nvPr/>
        </p:nvSpPr>
        <p:spPr>
          <a:xfrm>
            <a:off x="3261208" y="3822050"/>
            <a:ext cx="762900" cy="461100"/>
          </a:xfrm>
          <a:prstGeom prst="roundRect">
            <a:avLst>
              <a:gd fmla="val 16667" name="adj"/>
            </a:avLst>
          </a:prstGeom>
          <a:solidFill>
            <a:schemeClr val="lt1"/>
          </a:solidFill>
          <a:ln cap="flat" cmpd="sng" w="23725">
            <a:solidFill>
              <a:schemeClr val="dk1"/>
            </a:solidFill>
            <a:prstDash val="solid"/>
            <a:round/>
            <a:headEnd len="sm" w="sm" type="none"/>
            <a:tailEnd len="sm" w="sm" type="none"/>
          </a:ln>
        </p:spPr>
        <p:txBody>
          <a:bodyPr anchorCtr="0" anchor="ctr" bIns="56925" lIns="56925" spcFirstLastPara="1" rIns="56925" wrap="square" tIns="56925">
            <a:noAutofit/>
          </a:bodyPr>
          <a:lstStyle/>
          <a:p>
            <a:pPr indent="0" lvl="0" marL="0" rtl="0" algn="ctr">
              <a:spcBef>
                <a:spcPts val="0"/>
              </a:spcBef>
              <a:spcAft>
                <a:spcPts val="0"/>
              </a:spcAft>
              <a:buNone/>
            </a:pPr>
            <a:r>
              <a:rPr lang="en" sz="871">
                <a:latin typeface="Calibri"/>
                <a:ea typeface="Calibri"/>
                <a:cs typeface="Calibri"/>
                <a:sym typeface="Calibri"/>
              </a:rPr>
              <a:t>0</a:t>
            </a:r>
            <a:endParaRPr sz="871">
              <a:latin typeface="Calibri"/>
              <a:ea typeface="Calibri"/>
              <a:cs typeface="Calibri"/>
              <a:sym typeface="Calibri"/>
            </a:endParaRPr>
          </a:p>
        </p:txBody>
      </p:sp>
      <p:sp>
        <p:nvSpPr>
          <p:cNvPr id="190" name="Google Shape;190;p30"/>
          <p:cNvSpPr/>
          <p:nvPr/>
        </p:nvSpPr>
        <p:spPr>
          <a:xfrm>
            <a:off x="4134900" y="3822050"/>
            <a:ext cx="762900" cy="461100"/>
          </a:xfrm>
          <a:prstGeom prst="roundRect">
            <a:avLst>
              <a:gd fmla="val 16667" name="adj"/>
            </a:avLst>
          </a:prstGeom>
          <a:solidFill>
            <a:srgbClr val="0000FF"/>
          </a:solidFill>
          <a:ln cap="flat" cmpd="sng" w="23725">
            <a:solidFill>
              <a:schemeClr val="dk1"/>
            </a:solidFill>
            <a:prstDash val="solid"/>
            <a:round/>
            <a:headEnd len="sm" w="sm" type="none"/>
            <a:tailEnd len="sm" w="sm" type="none"/>
          </a:ln>
        </p:spPr>
        <p:txBody>
          <a:bodyPr anchorCtr="0" anchor="ctr" bIns="56925" lIns="56925" spcFirstLastPara="1" rIns="56925" wrap="square" tIns="56925">
            <a:noAutofit/>
          </a:bodyPr>
          <a:lstStyle/>
          <a:p>
            <a:pPr indent="0" lvl="0" marL="0" rtl="0" algn="ctr">
              <a:spcBef>
                <a:spcPts val="0"/>
              </a:spcBef>
              <a:spcAft>
                <a:spcPts val="0"/>
              </a:spcAft>
              <a:buNone/>
            </a:pPr>
            <a:r>
              <a:rPr lang="en" sz="871">
                <a:latin typeface="Calibri"/>
                <a:ea typeface="Calibri"/>
                <a:cs typeface="Calibri"/>
                <a:sym typeface="Calibri"/>
              </a:rPr>
              <a:t>50</a:t>
            </a:r>
            <a:endParaRPr sz="871">
              <a:latin typeface="Calibri"/>
              <a:ea typeface="Calibri"/>
              <a:cs typeface="Calibri"/>
              <a:sym typeface="Calibri"/>
            </a:endParaRPr>
          </a:p>
        </p:txBody>
      </p:sp>
      <p:sp>
        <p:nvSpPr>
          <p:cNvPr id="191" name="Google Shape;191;p30"/>
          <p:cNvSpPr/>
          <p:nvPr/>
        </p:nvSpPr>
        <p:spPr>
          <a:xfrm>
            <a:off x="5008611" y="3822050"/>
            <a:ext cx="762900" cy="461100"/>
          </a:xfrm>
          <a:prstGeom prst="roundRect">
            <a:avLst>
              <a:gd fmla="val 16667" name="adj"/>
            </a:avLst>
          </a:prstGeom>
          <a:solidFill>
            <a:schemeClr val="lt1"/>
          </a:solidFill>
          <a:ln cap="flat" cmpd="sng" w="23725">
            <a:solidFill>
              <a:schemeClr val="dk1"/>
            </a:solidFill>
            <a:prstDash val="solid"/>
            <a:round/>
            <a:headEnd len="sm" w="sm" type="none"/>
            <a:tailEnd len="sm" w="sm" type="none"/>
          </a:ln>
        </p:spPr>
        <p:txBody>
          <a:bodyPr anchorCtr="0" anchor="ctr" bIns="56925" lIns="56925" spcFirstLastPara="1" rIns="56925" wrap="square" tIns="56925">
            <a:noAutofit/>
          </a:bodyPr>
          <a:lstStyle/>
          <a:p>
            <a:pPr indent="0" lvl="0" marL="0" rtl="0" algn="ctr">
              <a:spcBef>
                <a:spcPts val="0"/>
              </a:spcBef>
              <a:spcAft>
                <a:spcPts val="0"/>
              </a:spcAft>
              <a:buNone/>
            </a:pPr>
            <a:r>
              <a:rPr lang="en" sz="871">
                <a:latin typeface="Calibri"/>
                <a:ea typeface="Calibri"/>
                <a:cs typeface="Calibri"/>
                <a:sym typeface="Calibri"/>
              </a:rPr>
              <a:t>0</a:t>
            </a:r>
            <a:endParaRPr sz="871">
              <a:latin typeface="Calibri"/>
              <a:ea typeface="Calibri"/>
              <a:cs typeface="Calibri"/>
              <a:sym typeface="Calibri"/>
            </a:endParaRPr>
          </a:p>
        </p:txBody>
      </p:sp>
      <p:sp>
        <p:nvSpPr>
          <p:cNvPr id="192" name="Google Shape;192;p30"/>
          <p:cNvSpPr/>
          <p:nvPr/>
        </p:nvSpPr>
        <p:spPr>
          <a:xfrm>
            <a:off x="5882322" y="3822050"/>
            <a:ext cx="762900" cy="461100"/>
          </a:xfrm>
          <a:prstGeom prst="roundRect">
            <a:avLst>
              <a:gd fmla="val 16667" name="adj"/>
            </a:avLst>
          </a:prstGeom>
          <a:solidFill>
            <a:schemeClr val="lt1"/>
          </a:solidFill>
          <a:ln cap="flat" cmpd="sng" w="23725">
            <a:solidFill>
              <a:schemeClr val="dk1"/>
            </a:solidFill>
            <a:prstDash val="solid"/>
            <a:round/>
            <a:headEnd len="sm" w="sm" type="none"/>
            <a:tailEnd len="sm" w="sm" type="none"/>
          </a:ln>
        </p:spPr>
        <p:txBody>
          <a:bodyPr anchorCtr="0" anchor="ctr" bIns="56925" lIns="56925" spcFirstLastPara="1" rIns="56925" wrap="square" tIns="56925">
            <a:noAutofit/>
          </a:bodyPr>
          <a:lstStyle/>
          <a:p>
            <a:pPr indent="0" lvl="0" marL="0" rtl="0" algn="ctr">
              <a:spcBef>
                <a:spcPts val="0"/>
              </a:spcBef>
              <a:spcAft>
                <a:spcPts val="0"/>
              </a:spcAft>
              <a:buNone/>
            </a:pPr>
            <a:r>
              <a:rPr lang="en" sz="871">
                <a:latin typeface="Calibri"/>
                <a:ea typeface="Calibri"/>
                <a:cs typeface="Calibri"/>
                <a:sym typeface="Calibri"/>
              </a:rPr>
              <a:t>0</a:t>
            </a:r>
            <a:endParaRPr sz="871">
              <a:latin typeface="Calibri"/>
              <a:ea typeface="Calibri"/>
              <a:cs typeface="Calibri"/>
              <a:sym typeface="Calibri"/>
            </a:endParaRPr>
          </a:p>
        </p:txBody>
      </p:sp>
      <p:sp>
        <p:nvSpPr>
          <p:cNvPr id="193" name="Google Shape;193;p30"/>
          <p:cNvSpPr/>
          <p:nvPr/>
        </p:nvSpPr>
        <p:spPr>
          <a:xfrm>
            <a:off x="6756033" y="3822050"/>
            <a:ext cx="762900" cy="461100"/>
          </a:xfrm>
          <a:prstGeom prst="roundRect">
            <a:avLst>
              <a:gd fmla="val 16667" name="adj"/>
            </a:avLst>
          </a:prstGeom>
          <a:solidFill>
            <a:schemeClr val="lt1"/>
          </a:solidFill>
          <a:ln cap="flat" cmpd="sng" w="23725">
            <a:solidFill>
              <a:schemeClr val="dk1"/>
            </a:solidFill>
            <a:prstDash val="solid"/>
            <a:round/>
            <a:headEnd len="sm" w="sm" type="none"/>
            <a:tailEnd len="sm" w="sm" type="none"/>
          </a:ln>
        </p:spPr>
        <p:txBody>
          <a:bodyPr anchorCtr="0" anchor="ctr" bIns="56925" lIns="56925" spcFirstLastPara="1" rIns="56925" wrap="square" tIns="56925">
            <a:noAutofit/>
          </a:bodyPr>
          <a:lstStyle/>
          <a:p>
            <a:pPr indent="0" lvl="0" marL="0" rtl="0" algn="ctr">
              <a:spcBef>
                <a:spcPts val="0"/>
              </a:spcBef>
              <a:spcAft>
                <a:spcPts val="0"/>
              </a:spcAft>
              <a:buNone/>
            </a:pPr>
            <a:r>
              <a:rPr lang="en" sz="871">
                <a:latin typeface="Calibri"/>
                <a:ea typeface="Calibri"/>
                <a:cs typeface="Calibri"/>
                <a:sym typeface="Calibri"/>
              </a:rPr>
              <a:t>?</a:t>
            </a:r>
            <a:endParaRPr sz="871">
              <a:latin typeface="Calibri"/>
              <a:ea typeface="Calibri"/>
              <a:cs typeface="Calibri"/>
              <a:sym typeface="Calibri"/>
            </a:endParaRPr>
          </a:p>
        </p:txBody>
      </p:sp>
      <p:sp>
        <p:nvSpPr>
          <p:cNvPr id="194" name="Google Shape;194;p30"/>
          <p:cNvSpPr/>
          <p:nvPr/>
        </p:nvSpPr>
        <p:spPr>
          <a:xfrm>
            <a:off x="7629725" y="3822050"/>
            <a:ext cx="762900" cy="461100"/>
          </a:xfrm>
          <a:prstGeom prst="roundRect">
            <a:avLst>
              <a:gd fmla="val 16667" name="adj"/>
            </a:avLst>
          </a:prstGeom>
          <a:solidFill>
            <a:schemeClr val="lt1"/>
          </a:solidFill>
          <a:ln cap="flat" cmpd="sng" w="23725">
            <a:solidFill>
              <a:schemeClr val="dk1"/>
            </a:solidFill>
            <a:prstDash val="solid"/>
            <a:round/>
            <a:headEnd len="sm" w="sm" type="none"/>
            <a:tailEnd len="sm" w="sm" type="none"/>
          </a:ln>
        </p:spPr>
        <p:txBody>
          <a:bodyPr anchorCtr="0" anchor="ctr" bIns="56925" lIns="56925" spcFirstLastPara="1" rIns="56925" wrap="square" tIns="56925">
            <a:noAutofit/>
          </a:bodyPr>
          <a:lstStyle/>
          <a:p>
            <a:pPr indent="0" lvl="0" marL="0" rtl="0" algn="ctr">
              <a:spcBef>
                <a:spcPts val="0"/>
              </a:spcBef>
              <a:spcAft>
                <a:spcPts val="0"/>
              </a:spcAft>
              <a:buNone/>
            </a:pPr>
            <a:r>
              <a:rPr lang="en" sz="871">
                <a:latin typeface="Calibri"/>
                <a:ea typeface="Calibri"/>
                <a:cs typeface="Calibri"/>
                <a:sym typeface="Calibri"/>
              </a:rPr>
              <a:t>?</a:t>
            </a:r>
            <a:endParaRPr sz="871">
              <a:latin typeface="Calibri"/>
              <a:ea typeface="Calibri"/>
              <a:cs typeface="Calibri"/>
              <a:sym typeface="Calibri"/>
            </a:endParaRPr>
          </a:p>
        </p:txBody>
      </p:sp>
      <p:sp>
        <p:nvSpPr>
          <p:cNvPr id="195" name="Google Shape;195;p30"/>
          <p:cNvSpPr/>
          <p:nvPr/>
        </p:nvSpPr>
        <p:spPr>
          <a:xfrm>
            <a:off x="2638350" y="4346975"/>
            <a:ext cx="3867300" cy="267900"/>
          </a:xfrm>
          <a:prstGeom prst="leftRightArrow">
            <a:avLst>
              <a:gd fmla="val 50000" name="adj1"/>
              <a:gd fmla="val 50000" name="adj2"/>
            </a:avLst>
          </a:prstGeom>
          <a:solidFill>
            <a:srgbClr val="6FA8D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6" name="Google Shape;196;p30"/>
          <p:cNvSpPr txBox="1"/>
          <p:nvPr/>
        </p:nvSpPr>
        <p:spPr>
          <a:xfrm>
            <a:off x="1485150" y="4551050"/>
            <a:ext cx="6173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Calibri"/>
                <a:ea typeface="Calibri"/>
                <a:cs typeface="Calibri"/>
                <a:sym typeface="Calibri"/>
              </a:rPr>
              <a:t>Legal Placement Zone &amp; Visibility Zone</a:t>
            </a:r>
            <a:endParaRPr>
              <a:solidFill>
                <a:schemeClr val="dk1"/>
              </a:solidFill>
              <a:latin typeface="Calibri"/>
              <a:ea typeface="Calibri"/>
              <a:cs typeface="Calibri"/>
              <a:sym typeface="Calibri"/>
            </a:endParaRPr>
          </a:p>
          <a:p>
            <a:pPr indent="0" lvl="0" marL="0" rtl="0" algn="ctr">
              <a:spcBef>
                <a:spcPts val="0"/>
              </a:spcBef>
              <a:spcAft>
                <a:spcPts val="0"/>
              </a:spcAft>
              <a:buNone/>
            </a:pPr>
            <a:r>
              <a:rPr lang="en">
                <a:solidFill>
                  <a:schemeClr val="dk1"/>
                </a:solidFill>
                <a:latin typeface="Calibri"/>
                <a:ea typeface="Calibri"/>
                <a:cs typeface="Calibri"/>
                <a:sym typeface="Calibri"/>
              </a:rPr>
              <a:t>(If legal range = 2 nodes)</a:t>
            </a:r>
            <a:endParaRPr>
              <a:solidFill>
                <a:schemeClr val="dk1"/>
              </a:solidFill>
              <a:latin typeface="Calibri"/>
              <a:ea typeface="Calibri"/>
              <a:cs typeface="Calibri"/>
              <a:sym typeface="Calibri"/>
            </a:endParaRPr>
          </a:p>
        </p:txBody>
      </p:sp>
      <p:pic>
        <p:nvPicPr>
          <p:cNvPr id="197" name="Google Shape;197;p30" title="cartoonFace.gif"/>
          <p:cNvPicPr preferRelativeResize="0"/>
          <p:nvPr/>
        </p:nvPicPr>
        <p:blipFill>
          <a:blip r:embed="rId4">
            <a:alphaModFix/>
          </a:blip>
          <a:stretch>
            <a:fillRect/>
          </a:stretch>
        </p:blipFill>
        <p:spPr>
          <a:xfrm>
            <a:off x="7154075" y="505025"/>
            <a:ext cx="762900" cy="762900"/>
          </a:xfrm>
          <a:prstGeom prst="rect">
            <a:avLst/>
          </a:prstGeom>
          <a:noFill/>
          <a:ln>
            <a:noFill/>
          </a:ln>
        </p:spPr>
      </p:pic>
      <p:sp>
        <p:nvSpPr>
          <p:cNvPr id="198" name="Google Shape;198;p30"/>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Two Action Types</a:t>
            </a:r>
            <a:endParaRPr/>
          </a:p>
        </p:txBody>
      </p:sp>
      <p:sp>
        <p:nvSpPr>
          <p:cNvPr id="204" name="Google Shape;204;p31"/>
          <p:cNvSpPr txBox="1"/>
          <p:nvPr/>
        </p:nvSpPr>
        <p:spPr>
          <a:xfrm>
            <a:off x="640080" y="960120"/>
            <a:ext cx="7498200" cy="369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Agents perform only two primary actions: Place and Remove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 sz="1800">
                <a:solidFill>
                  <a:schemeClr val="dk1"/>
                </a:solidFill>
                <a:latin typeface="Calibri"/>
                <a:ea typeface="Calibri"/>
                <a:cs typeface="Calibri"/>
                <a:sym typeface="Calibri"/>
              </a:rPr>
              <a:t>Place</a:t>
            </a:r>
            <a:r>
              <a:rPr lang="en" sz="1800">
                <a:solidFill>
                  <a:schemeClr val="dk1"/>
                </a:solidFill>
                <a:latin typeface="Calibri"/>
                <a:ea typeface="Calibri"/>
                <a:cs typeface="Calibri"/>
                <a:sym typeface="Calibri"/>
              </a:rPr>
              <a:t>: Put fernies on any node within the visibility range of a node you control.</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 sz="1800">
                <a:solidFill>
                  <a:schemeClr val="dk1"/>
                </a:solidFill>
                <a:latin typeface="Calibri"/>
                <a:ea typeface="Calibri"/>
                <a:cs typeface="Calibri"/>
                <a:sym typeface="Calibri"/>
              </a:rPr>
              <a:t>Remove</a:t>
            </a:r>
            <a:r>
              <a:rPr lang="en" sz="1800">
                <a:solidFill>
                  <a:schemeClr val="dk1"/>
                </a:solidFill>
                <a:latin typeface="Calibri"/>
                <a:ea typeface="Calibri"/>
                <a:cs typeface="Calibri"/>
                <a:sym typeface="Calibri"/>
              </a:rPr>
              <a:t>: Take fernies off any node you control; you can then place them on any legal node the same turn.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 sz="1800">
                <a:solidFill>
                  <a:schemeClr val="dk1"/>
                </a:solidFill>
                <a:latin typeface="Calibri"/>
                <a:ea typeface="Calibri"/>
                <a:cs typeface="Calibri"/>
                <a:sym typeface="Calibri"/>
              </a:rPr>
              <a:t>Removed Fernies which are not placed in the same turn will be permanently lost.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Each node has a maximum Fernie capacity.  Any excess Fernies placed on a node will be lost.</a:t>
            </a:r>
            <a:endParaRPr>
              <a:solidFill>
                <a:schemeClr val="dk1"/>
              </a:solidFill>
            </a:endParaRPr>
          </a:p>
          <a:p>
            <a:pPr indent="0" lvl="0" marL="0" rtl="0" algn="l">
              <a:spcBef>
                <a:spcPts val="0"/>
              </a:spcBef>
              <a:spcAft>
                <a:spcPts val="0"/>
              </a:spcAft>
              <a:buClr>
                <a:schemeClr val="dk1"/>
              </a:buClr>
              <a:buFont typeface="Arial"/>
              <a:buNone/>
            </a:pPr>
            <a:r>
              <a:t/>
            </a:r>
            <a:endParaRPr sz="1800">
              <a:solidFill>
                <a:schemeClr val="dk1"/>
              </a:solidFill>
              <a:latin typeface="Calibri"/>
              <a:ea typeface="Calibri"/>
              <a:cs typeface="Calibri"/>
              <a:sym typeface="Calibri"/>
            </a:endParaRPr>
          </a:p>
        </p:txBody>
      </p:sp>
      <p:pic>
        <p:nvPicPr>
          <p:cNvPr descr="slime_blue.png" id="205" name="Google Shape;205;p31"/>
          <p:cNvPicPr preferRelativeResize="0"/>
          <p:nvPr/>
        </p:nvPicPr>
        <p:blipFill rotWithShape="1">
          <a:blip r:embed="rId3">
            <a:alphaModFix/>
          </a:blip>
          <a:srcRect b="0" l="0" r="0" t="0"/>
          <a:stretch/>
        </p:blipFill>
        <p:spPr>
          <a:xfrm>
            <a:off x="6721400" y="93874"/>
            <a:ext cx="1659173" cy="1244375"/>
          </a:xfrm>
          <a:prstGeom prst="rect">
            <a:avLst/>
          </a:prstGeom>
          <a:noFill/>
          <a:ln>
            <a:noFill/>
          </a:ln>
        </p:spPr>
      </p:pic>
      <p:pic>
        <p:nvPicPr>
          <p:cNvPr id="206" name="Google Shape;206;p31" title="crosseyedFace.gif"/>
          <p:cNvPicPr preferRelativeResize="0"/>
          <p:nvPr/>
        </p:nvPicPr>
        <p:blipFill>
          <a:blip r:embed="rId4">
            <a:alphaModFix/>
          </a:blip>
          <a:stretch>
            <a:fillRect/>
          </a:stretch>
        </p:blipFill>
        <p:spPr>
          <a:xfrm>
            <a:off x="7512678" y="611802"/>
            <a:ext cx="507444" cy="507444"/>
          </a:xfrm>
          <a:prstGeom prst="rect">
            <a:avLst/>
          </a:prstGeom>
          <a:noFill/>
          <a:ln>
            <a:noFill/>
          </a:ln>
        </p:spPr>
      </p:pic>
      <p:pic>
        <p:nvPicPr>
          <p:cNvPr descr="slime_yellow.png" id="207" name="Google Shape;207;p31"/>
          <p:cNvPicPr preferRelativeResize="0"/>
          <p:nvPr/>
        </p:nvPicPr>
        <p:blipFill rotWithShape="1">
          <a:blip r:embed="rId5">
            <a:alphaModFix/>
          </a:blip>
          <a:srcRect b="0" l="0" r="0" t="0"/>
          <a:stretch/>
        </p:blipFill>
        <p:spPr>
          <a:xfrm>
            <a:off x="4571999" y="4057250"/>
            <a:ext cx="1448324" cy="1086250"/>
          </a:xfrm>
          <a:prstGeom prst="rect">
            <a:avLst/>
          </a:prstGeom>
          <a:noFill/>
          <a:ln>
            <a:noFill/>
          </a:ln>
        </p:spPr>
      </p:pic>
      <p:pic>
        <p:nvPicPr>
          <p:cNvPr descr="slime_red.png" id="208" name="Google Shape;208;p31"/>
          <p:cNvPicPr preferRelativeResize="0"/>
          <p:nvPr/>
        </p:nvPicPr>
        <p:blipFill rotWithShape="1">
          <a:blip r:embed="rId6">
            <a:alphaModFix/>
          </a:blip>
          <a:srcRect b="0" l="0" r="0" t="0"/>
          <a:stretch/>
        </p:blipFill>
        <p:spPr>
          <a:xfrm>
            <a:off x="3140350" y="4162437"/>
            <a:ext cx="1172153" cy="879121"/>
          </a:xfrm>
          <a:prstGeom prst="rect">
            <a:avLst/>
          </a:prstGeom>
          <a:noFill/>
          <a:ln>
            <a:noFill/>
          </a:ln>
        </p:spPr>
      </p:pic>
      <p:pic>
        <p:nvPicPr>
          <p:cNvPr id="209" name="Google Shape;209;p31" title="angryTongueFace.gif"/>
          <p:cNvPicPr preferRelativeResize="0"/>
          <p:nvPr/>
        </p:nvPicPr>
        <p:blipFill>
          <a:blip r:embed="rId7">
            <a:alphaModFix/>
          </a:blip>
          <a:stretch>
            <a:fillRect/>
          </a:stretch>
        </p:blipFill>
        <p:spPr>
          <a:xfrm>
            <a:off x="4900150" y="4379728"/>
            <a:ext cx="615600" cy="615600"/>
          </a:xfrm>
          <a:prstGeom prst="rect">
            <a:avLst/>
          </a:prstGeom>
          <a:noFill/>
          <a:ln>
            <a:noFill/>
          </a:ln>
        </p:spPr>
      </p:pic>
      <p:pic>
        <p:nvPicPr>
          <p:cNvPr id="210" name="Google Shape;210;p31" title="cartoonFace.gif"/>
          <p:cNvPicPr preferRelativeResize="0"/>
          <p:nvPr/>
        </p:nvPicPr>
        <p:blipFill>
          <a:blip r:embed="rId8">
            <a:alphaModFix/>
          </a:blip>
          <a:stretch>
            <a:fillRect/>
          </a:stretch>
        </p:blipFill>
        <p:spPr>
          <a:xfrm>
            <a:off x="3538550" y="4370568"/>
            <a:ext cx="549250" cy="549250"/>
          </a:xfrm>
          <a:prstGeom prst="rect">
            <a:avLst/>
          </a:prstGeom>
          <a:noFill/>
          <a:ln>
            <a:noFill/>
          </a:ln>
        </p:spPr>
      </p:pic>
      <p:sp>
        <p:nvSpPr>
          <p:cNvPr id="211" name="Google Shape;211;p31"/>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2"/>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Resolution Phase: Local Battles</a:t>
            </a:r>
            <a:endParaRPr/>
          </a:p>
        </p:txBody>
      </p:sp>
      <p:sp>
        <p:nvSpPr>
          <p:cNvPr id="217" name="Google Shape;217;p32"/>
          <p:cNvSpPr txBox="1"/>
          <p:nvPr/>
        </p:nvSpPr>
        <p:spPr>
          <a:xfrm>
            <a:off x="594305" y="819720"/>
            <a:ext cx="7498200" cy="424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Once both agents have made their moves / actions a resolution phase occurs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First local battles occur when both agents attempt to claim the same node in the ring</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The agent with more Fernies on a given node wins control of that node</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This Fernie count includes Fernies placed during this turn</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The Fernie count of the loser is subtracted from the winner</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SO if Agent A places 75 Fernies on the same node where Agent B has 50 Fernies, Agent A will win control of that node and hold 25 remaining Fernies on it.</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If both agents have equal numbers of Fernies then they cancel each other out and the node is left with no controller / owner</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Remaining Fernies = |Total A Fernies − Total B Fernies|</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32"/>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Resolution Phase: Local Battles</a:t>
            </a:r>
            <a:endParaRPr/>
          </a:p>
        </p:txBody>
      </p:sp>
      <p:sp>
        <p:nvSpPr>
          <p:cNvPr id="224" name="Google Shape;224;p33"/>
          <p:cNvSpPr txBox="1"/>
          <p:nvPr/>
        </p:nvSpPr>
        <p:spPr>
          <a:xfrm>
            <a:off x="594301" y="819725"/>
            <a:ext cx="64803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600">
                <a:solidFill>
                  <a:schemeClr val="dk1"/>
                </a:solidFill>
                <a:latin typeface="Calibri"/>
                <a:ea typeface="Calibri"/>
                <a:cs typeface="Calibri"/>
                <a:sym typeface="Calibri"/>
              </a:rPr>
              <a:t>Local Battles are calculated immediately after both agents move.txt files have been read and accepted.</a:t>
            </a:r>
            <a:endParaRPr sz="16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1600">
              <a:solidFill>
                <a:schemeClr val="dk1"/>
              </a:solidFill>
              <a:latin typeface="Calibri"/>
              <a:ea typeface="Calibri"/>
              <a:cs typeface="Calibri"/>
              <a:sym typeface="Calibri"/>
            </a:endParaRPr>
          </a:p>
        </p:txBody>
      </p:sp>
      <p:pic>
        <p:nvPicPr>
          <p:cNvPr descr="slime_yellow.png" id="225" name="Google Shape;225;p33"/>
          <p:cNvPicPr preferRelativeResize="0"/>
          <p:nvPr/>
        </p:nvPicPr>
        <p:blipFill rotWithShape="1">
          <a:blip r:embed="rId3">
            <a:alphaModFix/>
          </a:blip>
          <a:srcRect b="0" l="0" r="0" t="0"/>
          <a:stretch/>
        </p:blipFill>
        <p:spPr>
          <a:xfrm>
            <a:off x="6936376" y="602850"/>
            <a:ext cx="1574700" cy="1181025"/>
          </a:xfrm>
          <a:prstGeom prst="rect">
            <a:avLst/>
          </a:prstGeom>
          <a:noFill/>
          <a:ln>
            <a:noFill/>
          </a:ln>
        </p:spPr>
      </p:pic>
      <p:sp>
        <p:nvSpPr>
          <p:cNvPr id="226" name="Google Shape;226;p33"/>
          <p:cNvSpPr/>
          <p:nvPr/>
        </p:nvSpPr>
        <p:spPr>
          <a:xfrm>
            <a:off x="1114125"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27" name="Google Shape;227;p33"/>
          <p:cNvSpPr/>
          <p:nvPr/>
        </p:nvSpPr>
        <p:spPr>
          <a:xfrm>
            <a:off x="2517300"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28" name="Google Shape;228;p33"/>
          <p:cNvSpPr/>
          <p:nvPr/>
        </p:nvSpPr>
        <p:spPr>
          <a:xfrm>
            <a:off x="3920475" y="2674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229" name="Google Shape;229;p33"/>
          <p:cNvSpPr/>
          <p:nvPr/>
        </p:nvSpPr>
        <p:spPr>
          <a:xfrm>
            <a:off x="5323650"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30" name="Google Shape;230;p33"/>
          <p:cNvSpPr/>
          <p:nvPr/>
        </p:nvSpPr>
        <p:spPr>
          <a:xfrm>
            <a:off x="1114125"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31" name="Google Shape;231;p33"/>
          <p:cNvSpPr/>
          <p:nvPr/>
        </p:nvSpPr>
        <p:spPr>
          <a:xfrm>
            <a:off x="2517300"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32" name="Google Shape;232;p33"/>
          <p:cNvSpPr/>
          <p:nvPr/>
        </p:nvSpPr>
        <p:spPr>
          <a:xfrm>
            <a:off x="3920475" y="4141700"/>
            <a:ext cx="1225200" cy="740400"/>
          </a:xfrm>
          <a:prstGeom prst="roundRect">
            <a:avLst>
              <a:gd fmla="val 16667" name="adj"/>
            </a:avLst>
          </a:prstGeom>
          <a:solidFill>
            <a:srgbClr val="FF0000"/>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25</a:t>
            </a:r>
            <a:endParaRPr>
              <a:latin typeface="Calibri"/>
              <a:ea typeface="Calibri"/>
              <a:cs typeface="Calibri"/>
              <a:sym typeface="Calibri"/>
            </a:endParaRPr>
          </a:p>
        </p:txBody>
      </p:sp>
      <p:sp>
        <p:nvSpPr>
          <p:cNvPr id="233" name="Google Shape;233;p33"/>
          <p:cNvSpPr/>
          <p:nvPr/>
        </p:nvSpPr>
        <p:spPr>
          <a:xfrm>
            <a:off x="5323650"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34" name="Google Shape;234;p33"/>
          <p:cNvSpPr/>
          <p:nvPr/>
        </p:nvSpPr>
        <p:spPr>
          <a:xfrm>
            <a:off x="3602925" y="3625250"/>
            <a:ext cx="394200" cy="3063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5" name="Google Shape;235;p33"/>
          <p:cNvSpPr/>
          <p:nvPr/>
        </p:nvSpPr>
        <p:spPr>
          <a:xfrm>
            <a:off x="3870950" y="2011025"/>
            <a:ext cx="510600" cy="463500"/>
          </a:xfrm>
          <a:prstGeom prst="mathPlus">
            <a:avLst>
              <a:gd fmla="val 23520" name="adj1"/>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6" name="Google Shape;236;p33"/>
          <p:cNvSpPr/>
          <p:nvPr/>
        </p:nvSpPr>
        <p:spPr>
          <a:xfrm>
            <a:off x="4381550" y="1951775"/>
            <a:ext cx="600000" cy="5820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75</a:t>
            </a:r>
            <a:endParaRPr>
              <a:latin typeface="Calibri"/>
              <a:ea typeface="Calibri"/>
              <a:cs typeface="Calibri"/>
              <a:sym typeface="Calibri"/>
            </a:endParaRPr>
          </a:p>
        </p:txBody>
      </p:sp>
      <p:sp>
        <p:nvSpPr>
          <p:cNvPr id="237" name="Google Shape;237;p33"/>
          <p:cNvSpPr txBox="1"/>
          <p:nvPr/>
        </p:nvSpPr>
        <p:spPr>
          <a:xfrm>
            <a:off x="6666050" y="2156100"/>
            <a:ext cx="2408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Red Agent places 75 Fernies on a node controlled by blue with 50 Fernies</a:t>
            </a:r>
            <a:endParaRPr>
              <a:solidFill>
                <a:schemeClr val="dk1"/>
              </a:solidFill>
              <a:latin typeface="Calibri"/>
              <a:ea typeface="Calibri"/>
              <a:cs typeface="Calibri"/>
              <a:sym typeface="Calibri"/>
            </a:endParaRPr>
          </a:p>
        </p:txBody>
      </p:sp>
      <p:sp>
        <p:nvSpPr>
          <p:cNvPr id="238" name="Google Shape;238;p33"/>
          <p:cNvSpPr txBox="1"/>
          <p:nvPr/>
        </p:nvSpPr>
        <p:spPr>
          <a:xfrm>
            <a:off x="6666050" y="3931550"/>
            <a:ext cx="2408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Red takes control of that node but only has 25 surviving Fernies</a:t>
            </a:r>
            <a:endParaRPr>
              <a:solidFill>
                <a:schemeClr val="dk1"/>
              </a:solidFill>
              <a:latin typeface="Calibri"/>
              <a:ea typeface="Calibri"/>
              <a:cs typeface="Calibri"/>
              <a:sym typeface="Calibri"/>
            </a:endParaRPr>
          </a:p>
        </p:txBody>
      </p:sp>
      <p:pic>
        <p:nvPicPr>
          <p:cNvPr id="239" name="Google Shape;239;p33" title="cartoonFace.gif"/>
          <p:cNvPicPr preferRelativeResize="0"/>
          <p:nvPr/>
        </p:nvPicPr>
        <p:blipFill>
          <a:blip r:embed="rId4">
            <a:alphaModFix/>
          </a:blip>
          <a:stretch>
            <a:fillRect/>
          </a:stretch>
        </p:blipFill>
        <p:spPr>
          <a:xfrm>
            <a:off x="7595625" y="756293"/>
            <a:ext cx="549250" cy="549250"/>
          </a:xfrm>
          <a:prstGeom prst="rect">
            <a:avLst/>
          </a:prstGeom>
          <a:noFill/>
          <a:ln>
            <a:noFill/>
          </a:ln>
        </p:spPr>
      </p:pic>
      <p:sp>
        <p:nvSpPr>
          <p:cNvPr id="240" name="Google Shape;240;p33"/>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Resolution Phase: Local Battles</a:t>
            </a:r>
            <a:endParaRPr/>
          </a:p>
        </p:txBody>
      </p:sp>
      <p:sp>
        <p:nvSpPr>
          <p:cNvPr id="246" name="Google Shape;246;p34"/>
          <p:cNvSpPr txBox="1"/>
          <p:nvPr/>
        </p:nvSpPr>
        <p:spPr>
          <a:xfrm>
            <a:off x="594301" y="819725"/>
            <a:ext cx="64803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600">
                <a:solidFill>
                  <a:schemeClr val="dk1"/>
                </a:solidFill>
                <a:latin typeface="Calibri"/>
                <a:ea typeface="Calibri"/>
                <a:cs typeface="Calibri"/>
                <a:sym typeface="Calibri"/>
              </a:rPr>
              <a:t>Local Battles are calculated immediately after both agents move.txt files have been read and accepted.</a:t>
            </a:r>
            <a:endParaRPr sz="16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1600">
              <a:solidFill>
                <a:schemeClr val="dk1"/>
              </a:solidFill>
              <a:latin typeface="Calibri"/>
              <a:ea typeface="Calibri"/>
              <a:cs typeface="Calibri"/>
              <a:sym typeface="Calibri"/>
            </a:endParaRPr>
          </a:p>
        </p:txBody>
      </p:sp>
      <p:pic>
        <p:nvPicPr>
          <p:cNvPr descr="slime_yellow.png" id="247" name="Google Shape;247;p34"/>
          <p:cNvPicPr preferRelativeResize="0"/>
          <p:nvPr/>
        </p:nvPicPr>
        <p:blipFill rotWithShape="1">
          <a:blip r:embed="rId3">
            <a:alphaModFix/>
          </a:blip>
          <a:srcRect b="0" l="0" r="0" t="0"/>
          <a:stretch/>
        </p:blipFill>
        <p:spPr>
          <a:xfrm>
            <a:off x="6955634" y="274324"/>
            <a:ext cx="1835190" cy="1376400"/>
          </a:xfrm>
          <a:prstGeom prst="rect">
            <a:avLst/>
          </a:prstGeom>
          <a:noFill/>
          <a:ln>
            <a:noFill/>
          </a:ln>
        </p:spPr>
      </p:pic>
      <p:sp>
        <p:nvSpPr>
          <p:cNvPr id="248" name="Google Shape;248;p34"/>
          <p:cNvSpPr/>
          <p:nvPr/>
        </p:nvSpPr>
        <p:spPr>
          <a:xfrm>
            <a:off x="1114125"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49" name="Google Shape;249;p34"/>
          <p:cNvSpPr/>
          <p:nvPr/>
        </p:nvSpPr>
        <p:spPr>
          <a:xfrm>
            <a:off x="2517300"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50" name="Google Shape;250;p34"/>
          <p:cNvSpPr/>
          <p:nvPr/>
        </p:nvSpPr>
        <p:spPr>
          <a:xfrm>
            <a:off x="3920475" y="2674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251" name="Google Shape;251;p34"/>
          <p:cNvSpPr/>
          <p:nvPr/>
        </p:nvSpPr>
        <p:spPr>
          <a:xfrm>
            <a:off x="5323650"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52" name="Google Shape;252;p34"/>
          <p:cNvSpPr/>
          <p:nvPr/>
        </p:nvSpPr>
        <p:spPr>
          <a:xfrm>
            <a:off x="1114125"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53" name="Google Shape;253;p34"/>
          <p:cNvSpPr/>
          <p:nvPr/>
        </p:nvSpPr>
        <p:spPr>
          <a:xfrm>
            <a:off x="2517300"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54" name="Google Shape;254;p34"/>
          <p:cNvSpPr/>
          <p:nvPr/>
        </p:nvSpPr>
        <p:spPr>
          <a:xfrm>
            <a:off x="3920475"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55" name="Google Shape;255;p34"/>
          <p:cNvSpPr/>
          <p:nvPr/>
        </p:nvSpPr>
        <p:spPr>
          <a:xfrm>
            <a:off x="5323650"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56" name="Google Shape;256;p34"/>
          <p:cNvSpPr/>
          <p:nvPr/>
        </p:nvSpPr>
        <p:spPr>
          <a:xfrm>
            <a:off x="3602925" y="3625250"/>
            <a:ext cx="394200" cy="3063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7" name="Google Shape;257;p34"/>
          <p:cNvSpPr/>
          <p:nvPr/>
        </p:nvSpPr>
        <p:spPr>
          <a:xfrm>
            <a:off x="3870950" y="2011025"/>
            <a:ext cx="510600" cy="463500"/>
          </a:xfrm>
          <a:prstGeom prst="mathPlus">
            <a:avLst>
              <a:gd fmla="val 23520" name="adj1"/>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8" name="Google Shape;258;p34"/>
          <p:cNvSpPr/>
          <p:nvPr/>
        </p:nvSpPr>
        <p:spPr>
          <a:xfrm>
            <a:off x="4381550" y="1951775"/>
            <a:ext cx="600000" cy="5820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259" name="Google Shape;259;p34"/>
          <p:cNvSpPr txBox="1"/>
          <p:nvPr/>
        </p:nvSpPr>
        <p:spPr>
          <a:xfrm>
            <a:off x="6666050" y="2156100"/>
            <a:ext cx="2408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Red Agent places 50 Fernies on a node controlled by blue with 50 Fernies</a:t>
            </a:r>
            <a:endParaRPr>
              <a:solidFill>
                <a:schemeClr val="dk1"/>
              </a:solidFill>
              <a:latin typeface="Calibri"/>
              <a:ea typeface="Calibri"/>
              <a:cs typeface="Calibri"/>
              <a:sym typeface="Calibri"/>
            </a:endParaRPr>
          </a:p>
        </p:txBody>
      </p:sp>
      <p:sp>
        <p:nvSpPr>
          <p:cNvPr id="260" name="Google Shape;260;p34"/>
          <p:cNvSpPr txBox="1"/>
          <p:nvPr/>
        </p:nvSpPr>
        <p:spPr>
          <a:xfrm>
            <a:off x="6666050" y="3931550"/>
            <a:ext cx="2408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Fernies cancel each other out and no agent controls the node</a:t>
            </a:r>
            <a:endParaRPr>
              <a:solidFill>
                <a:schemeClr val="dk1"/>
              </a:solidFill>
              <a:latin typeface="Calibri"/>
              <a:ea typeface="Calibri"/>
              <a:cs typeface="Calibri"/>
              <a:sym typeface="Calibri"/>
            </a:endParaRPr>
          </a:p>
        </p:txBody>
      </p:sp>
      <p:pic>
        <p:nvPicPr>
          <p:cNvPr id="261" name="Google Shape;261;p34" title="crosseyedFace.gif"/>
          <p:cNvPicPr preferRelativeResize="0"/>
          <p:nvPr/>
        </p:nvPicPr>
        <p:blipFill>
          <a:blip r:embed="rId4">
            <a:alphaModFix/>
          </a:blip>
          <a:stretch>
            <a:fillRect/>
          </a:stretch>
        </p:blipFill>
        <p:spPr>
          <a:xfrm>
            <a:off x="7331526" y="620816"/>
            <a:ext cx="683450" cy="683416"/>
          </a:xfrm>
          <a:prstGeom prst="rect">
            <a:avLst/>
          </a:prstGeom>
          <a:noFill/>
          <a:ln>
            <a:noFill/>
          </a:ln>
        </p:spPr>
      </p:pic>
      <p:sp>
        <p:nvSpPr>
          <p:cNvPr id="262" name="Google Shape;262;p34"/>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5"/>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Resolution Phase: Local Battles</a:t>
            </a:r>
            <a:endParaRPr/>
          </a:p>
        </p:txBody>
      </p:sp>
      <p:sp>
        <p:nvSpPr>
          <p:cNvPr id="268" name="Google Shape;268;p35"/>
          <p:cNvSpPr txBox="1"/>
          <p:nvPr/>
        </p:nvSpPr>
        <p:spPr>
          <a:xfrm>
            <a:off x="594301" y="819725"/>
            <a:ext cx="64803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600">
                <a:solidFill>
                  <a:schemeClr val="dk1"/>
                </a:solidFill>
                <a:latin typeface="Calibri"/>
                <a:ea typeface="Calibri"/>
                <a:cs typeface="Calibri"/>
                <a:sym typeface="Calibri"/>
              </a:rPr>
              <a:t>Local Battles are calculated immediately after both agents move.txt files have been read and accepted.</a:t>
            </a:r>
            <a:endParaRPr sz="16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1600">
              <a:solidFill>
                <a:schemeClr val="dk1"/>
              </a:solidFill>
              <a:latin typeface="Calibri"/>
              <a:ea typeface="Calibri"/>
              <a:cs typeface="Calibri"/>
              <a:sym typeface="Calibri"/>
            </a:endParaRPr>
          </a:p>
        </p:txBody>
      </p:sp>
      <p:pic>
        <p:nvPicPr>
          <p:cNvPr descr="slime_yellow.png" id="269" name="Google Shape;269;p35"/>
          <p:cNvPicPr preferRelativeResize="0"/>
          <p:nvPr/>
        </p:nvPicPr>
        <p:blipFill rotWithShape="1">
          <a:blip r:embed="rId3">
            <a:alphaModFix/>
          </a:blip>
          <a:srcRect b="0" l="0" r="0" t="0"/>
          <a:stretch/>
        </p:blipFill>
        <p:spPr>
          <a:xfrm>
            <a:off x="6955634" y="274324"/>
            <a:ext cx="1835190" cy="1376400"/>
          </a:xfrm>
          <a:prstGeom prst="rect">
            <a:avLst/>
          </a:prstGeom>
          <a:noFill/>
          <a:ln>
            <a:noFill/>
          </a:ln>
        </p:spPr>
      </p:pic>
      <p:sp>
        <p:nvSpPr>
          <p:cNvPr id="270" name="Google Shape;270;p35"/>
          <p:cNvSpPr/>
          <p:nvPr/>
        </p:nvSpPr>
        <p:spPr>
          <a:xfrm>
            <a:off x="1114125"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71" name="Google Shape;271;p35"/>
          <p:cNvSpPr/>
          <p:nvPr/>
        </p:nvSpPr>
        <p:spPr>
          <a:xfrm>
            <a:off x="2517300"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72" name="Google Shape;272;p35"/>
          <p:cNvSpPr/>
          <p:nvPr/>
        </p:nvSpPr>
        <p:spPr>
          <a:xfrm>
            <a:off x="3920475" y="2674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273" name="Google Shape;273;p35"/>
          <p:cNvSpPr/>
          <p:nvPr/>
        </p:nvSpPr>
        <p:spPr>
          <a:xfrm>
            <a:off x="5323650"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74" name="Google Shape;274;p35"/>
          <p:cNvSpPr/>
          <p:nvPr/>
        </p:nvSpPr>
        <p:spPr>
          <a:xfrm>
            <a:off x="1114125"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75" name="Google Shape;275;p35"/>
          <p:cNvSpPr/>
          <p:nvPr/>
        </p:nvSpPr>
        <p:spPr>
          <a:xfrm>
            <a:off x="2517300"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76" name="Google Shape;276;p35"/>
          <p:cNvSpPr/>
          <p:nvPr/>
        </p:nvSpPr>
        <p:spPr>
          <a:xfrm>
            <a:off x="3920475" y="4141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25</a:t>
            </a:r>
            <a:endParaRPr>
              <a:latin typeface="Calibri"/>
              <a:ea typeface="Calibri"/>
              <a:cs typeface="Calibri"/>
              <a:sym typeface="Calibri"/>
            </a:endParaRPr>
          </a:p>
        </p:txBody>
      </p:sp>
      <p:sp>
        <p:nvSpPr>
          <p:cNvPr id="277" name="Google Shape;277;p35"/>
          <p:cNvSpPr/>
          <p:nvPr/>
        </p:nvSpPr>
        <p:spPr>
          <a:xfrm>
            <a:off x="5323650"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278" name="Google Shape;278;p35"/>
          <p:cNvSpPr/>
          <p:nvPr/>
        </p:nvSpPr>
        <p:spPr>
          <a:xfrm>
            <a:off x="3602925" y="3625250"/>
            <a:ext cx="394200" cy="3063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9" name="Google Shape;279;p35"/>
          <p:cNvSpPr/>
          <p:nvPr/>
        </p:nvSpPr>
        <p:spPr>
          <a:xfrm>
            <a:off x="3870950" y="2011025"/>
            <a:ext cx="510600" cy="463500"/>
          </a:xfrm>
          <a:prstGeom prst="mathPlus">
            <a:avLst>
              <a:gd fmla="val 23520" name="adj1"/>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0" name="Google Shape;280;p35"/>
          <p:cNvSpPr/>
          <p:nvPr/>
        </p:nvSpPr>
        <p:spPr>
          <a:xfrm>
            <a:off x="4381550" y="1951775"/>
            <a:ext cx="600000" cy="5820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281" name="Google Shape;281;p35"/>
          <p:cNvSpPr txBox="1"/>
          <p:nvPr/>
        </p:nvSpPr>
        <p:spPr>
          <a:xfrm>
            <a:off x="6666050" y="2156100"/>
            <a:ext cx="24084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Red Agent places 50 Fernies on a node controlled by blue with 50 Fernies. Blue also places 25 new Fernies on that node. </a:t>
            </a:r>
            <a:endParaRPr>
              <a:solidFill>
                <a:schemeClr val="dk1"/>
              </a:solidFill>
              <a:latin typeface="Calibri"/>
              <a:ea typeface="Calibri"/>
              <a:cs typeface="Calibri"/>
              <a:sym typeface="Calibri"/>
            </a:endParaRPr>
          </a:p>
        </p:txBody>
      </p:sp>
      <p:sp>
        <p:nvSpPr>
          <p:cNvPr id="282" name="Google Shape;282;p35"/>
          <p:cNvSpPr txBox="1"/>
          <p:nvPr/>
        </p:nvSpPr>
        <p:spPr>
          <a:xfrm>
            <a:off x="6666050" y="3931550"/>
            <a:ext cx="240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Blue wins and retains control of the node with 25 Fernies</a:t>
            </a:r>
            <a:endParaRPr>
              <a:solidFill>
                <a:schemeClr val="dk1"/>
              </a:solidFill>
              <a:latin typeface="Calibri"/>
              <a:ea typeface="Calibri"/>
              <a:cs typeface="Calibri"/>
              <a:sym typeface="Calibri"/>
            </a:endParaRPr>
          </a:p>
        </p:txBody>
      </p:sp>
      <p:sp>
        <p:nvSpPr>
          <p:cNvPr id="283" name="Google Shape;283;p35"/>
          <p:cNvSpPr/>
          <p:nvPr/>
        </p:nvSpPr>
        <p:spPr>
          <a:xfrm>
            <a:off x="3870950" y="1288100"/>
            <a:ext cx="510600" cy="463500"/>
          </a:xfrm>
          <a:prstGeom prst="mathPlus">
            <a:avLst>
              <a:gd fmla="val 23520" name="adj1"/>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4" name="Google Shape;284;p35"/>
          <p:cNvSpPr/>
          <p:nvPr/>
        </p:nvSpPr>
        <p:spPr>
          <a:xfrm>
            <a:off x="4381550" y="1228850"/>
            <a:ext cx="600000" cy="582000"/>
          </a:xfrm>
          <a:prstGeom prst="ellipse">
            <a:avLst/>
          </a:prstGeom>
          <a:solidFill>
            <a:srgbClr val="0000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25</a:t>
            </a:r>
            <a:endParaRPr>
              <a:latin typeface="Calibri"/>
              <a:ea typeface="Calibri"/>
              <a:cs typeface="Calibri"/>
              <a:sym typeface="Calibri"/>
            </a:endParaRPr>
          </a:p>
        </p:txBody>
      </p:sp>
      <p:pic>
        <p:nvPicPr>
          <p:cNvPr id="285" name="Google Shape;285;p35" title="angryEyebrowFace.gif"/>
          <p:cNvPicPr preferRelativeResize="0"/>
          <p:nvPr/>
        </p:nvPicPr>
        <p:blipFill>
          <a:blip r:embed="rId4">
            <a:alphaModFix/>
          </a:blip>
          <a:stretch>
            <a:fillRect/>
          </a:stretch>
        </p:blipFill>
        <p:spPr>
          <a:xfrm>
            <a:off x="8042125" y="819725"/>
            <a:ext cx="683450" cy="683450"/>
          </a:xfrm>
          <a:prstGeom prst="rect">
            <a:avLst/>
          </a:prstGeom>
          <a:noFill/>
          <a:ln>
            <a:noFill/>
          </a:ln>
        </p:spPr>
      </p:pic>
      <p:sp>
        <p:nvSpPr>
          <p:cNvPr id="286" name="Google Shape;286;p35"/>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6"/>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Resolution Phase: Edge Battles</a:t>
            </a:r>
            <a:endParaRPr/>
          </a:p>
        </p:txBody>
      </p:sp>
      <p:sp>
        <p:nvSpPr>
          <p:cNvPr id="292" name="Google Shape;292;p36"/>
          <p:cNvSpPr txBox="1"/>
          <p:nvPr/>
        </p:nvSpPr>
        <p:spPr>
          <a:xfrm>
            <a:off x="640080" y="960120"/>
            <a:ext cx="7498200" cy="25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Once all local battles have been resolved the ring is searched and Edge Battles  and Triple Battles occur.</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This search occurs in alternating directions: clockwise and counterclockwise</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The starting location of this search is randomized**</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If two neighboring nodes are controlled by different agents then an edge battle occurs between these nodes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If three neighboring nodes have alternating ownership then a triple battle occurs</a:t>
            </a:r>
            <a:endParaRPr sz="1800">
              <a:solidFill>
                <a:schemeClr val="dk1"/>
              </a:solidFill>
              <a:latin typeface="Calibri"/>
              <a:ea typeface="Calibri"/>
              <a:cs typeface="Calibri"/>
              <a:sym typeface="Calibri"/>
            </a:endParaRPr>
          </a:p>
        </p:txBody>
      </p:sp>
      <p:sp>
        <p:nvSpPr>
          <p:cNvPr id="293" name="Google Shape;293;p36"/>
          <p:cNvSpPr txBox="1"/>
          <p:nvPr/>
        </p:nvSpPr>
        <p:spPr>
          <a:xfrm>
            <a:off x="457200" y="4205725"/>
            <a:ext cx="85110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Calibri"/>
                <a:ea typeface="Calibri"/>
                <a:cs typeface="Calibri"/>
                <a:sym typeface="Calibri"/>
              </a:rPr>
              <a:t>**No battles occur on the edge between the starting node of the search and the final node of the search. In effect this creates a pseudo safe-zone at that edge. It is randomly selected to avoid giving a pre-determinable advantage to either player.</a:t>
            </a:r>
            <a:endParaRPr sz="1300">
              <a:solidFill>
                <a:schemeClr val="dk1"/>
              </a:solidFill>
              <a:latin typeface="Calibri"/>
              <a:ea typeface="Calibri"/>
              <a:cs typeface="Calibri"/>
              <a:sym typeface="Calibri"/>
            </a:endParaRPr>
          </a:p>
        </p:txBody>
      </p:sp>
      <p:pic>
        <p:nvPicPr>
          <p:cNvPr descr="slime_blue.png" id="294" name="Google Shape;294;p36"/>
          <p:cNvPicPr preferRelativeResize="0"/>
          <p:nvPr/>
        </p:nvPicPr>
        <p:blipFill rotWithShape="1">
          <a:blip r:embed="rId3">
            <a:alphaModFix/>
          </a:blip>
          <a:srcRect b="0" l="0" r="0" t="0"/>
          <a:stretch/>
        </p:blipFill>
        <p:spPr>
          <a:xfrm>
            <a:off x="3388178" y="3362675"/>
            <a:ext cx="1124067" cy="843050"/>
          </a:xfrm>
          <a:prstGeom prst="rect">
            <a:avLst/>
          </a:prstGeom>
          <a:noFill/>
          <a:ln>
            <a:noFill/>
          </a:ln>
        </p:spPr>
      </p:pic>
      <p:pic>
        <p:nvPicPr>
          <p:cNvPr id="295" name="Google Shape;295;p36" title="cartoonFace.gif"/>
          <p:cNvPicPr preferRelativeResize="0"/>
          <p:nvPr/>
        </p:nvPicPr>
        <p:blipFill>
          <a:blip r:embed="rId4">
            <a:alphaModFix/>
          </a:blip>
          <a:stretch>
            <a:fillRect/>
          </a:stretch>
        </p:blipFill>
        <p:spPr>
          <a:xfrm>
            <a:off x="3794695" y="3684709"/>
            <a:ext cx="521016" cy="521016"/>
          </a:xfrm>
          <a:prstGeom prst="rect">
            <a:avLst/>
          </a:prstGeom>
          <a:noFill/>
          <a:ln>
            <a:noFill/>
          </a:ln>
        </p:spPr>
      </p:pic>
      <p:pic>
        <p:nvPicPr>
          <p:cNvPr descr="slime_red.png" id="296" name="Google Shape;296;p36"/>
          <p:cNvPicPr preferRelativeResize="0"/>
          <p:nvPr/>
        </p:nvPicPr>
        <p:blipFill rotWithShape="1">
          <a:blip r:embed="rId5">
            <a:alphaModFix/>
          </a:blip>
          <a:srcRect b="0" l="0" r="0" t="0"/>
          <a:stretch/>
        </p:blipFill>
        <p:spPr>
          <a:xfrm>
            <a:off x="4833724" y="3042864"/>
            <a:ext cx="1550500" cy="1162866"/>
          </a:xfrm>
          <a:prstGeom prst="rect">
            <a:avLst/>
          </a:prstGeom>
          <a:noFill/>
          <a:ln>
            <a:noFill/>
          </a:ln>
        </p:spPr>
      </p:pic>
      <p:pic>
        <p:nvPicPr>
          <p:cNvPr id="297" name="Google Shape;297;p36" title="angryEyebrowFace.gif"/>
          <p:cNvPicPr preferRelativeResize="0"/>
          <p:nvPr/>
        </p:nvPicPr>
        <p:blipFill>
          <a:blip r:embed="rId6">
            <a:alphaModFix/>
          </a:blip>
          <a:stretch>
            <a:fillRect/>
          </a:stretch>
        </p:blipFill>
        <p:spPr>
          <a:xfrm>
            <a:off x="5273861" y="3475142"/>
            <a:ext cx="449373" cy="449373"/>
          </a:xfrm>
          <a:prstGeom prst="rect">
            <a:avLst/>
          </a:prstGeom>
          <a:noFill/>
          <a:ln>
            <a:noFill/>
          </a:ln>
        </p:spPr>
      </p:pic>
      <p:sp>
        <p:nvSpPr>
          <p:cNvPr id="298" name="Google Shape;298;p36"/>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7"/>
          <p:cNvSpPr txBox="1"/>
          <p:nvPr/>
        </p:nvSpPr>
        <p:spPr>
          <a:xfrm>
            <a:off x="457200" y="274320"/>
            <a:ext cx="777240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Edge Battles</a:t>
            </a:r>
            <a:endParaRPr/>
          </a:p>
        </p:txBody>
      </p:sp>
      <p:sp>
        <p:nvSpPr>
          <p:cNvPr id="304" name="Google Shape;304;p37"/>
          <p:cNvSpPr/>
          <p:nvPr/>
        </p:nvSpPr>
        <p:spPr>
          <a:xfrm>
            <a:off x="1114125"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05" name="Google Shape;305;p37"/>
          <p:cNvSpPr txBox="1"/>
          <p:nvPr/>
        </p:nvSpPr>
        <p:spPr>
          <a:xfrm>
            <a:off x="594305" y="845245"/>
            <a:ext cx="7498200" cy="181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a:solidFill>
                  <a:schemeClr val="dk1"/>
                </a:solidFill>
                <a:latin typeface="Calibri"/>
                <a:ea typeface="Calibri"/>
                <a:cs typeface="Calibri"/>
                <a:sym typeface="Calibri"/>
              </a:rPr>
              <a:t>Edge battles are fought on the edge between two nodes controlled by opposing players</a:t>
            </a:r>
            <a:endParaRPr/>
          </a:p>
          <a:p>
            <a:pPr indent="-317500" lvl="0" marL="4572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The player with more fernies absorbs the other</a:t>
            </a:r>
            <a:endParaRPr>
              <a:solidFill>
                <a:schemeClr val="dk1"/>
              </a:solidFill>
              <a:latin typeface="Calibri"/>
              <a:ea typeface="Calibri"/>
              <a:cs typeface="Calibri"/>
              <a:sym typeface="Calibri"/>
            </a:endParaRPr>
          </a:p>
          <a:p>
            <a:pPr indent="-317500" lvl="1" marL="9144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winner keeps their node and gains fernies equal</a:t>
            </a:r>
            <a:br>
              <a:rPr lang="en">
                <a:solidFill>
                  <a:schemeClr val="dk1"/>
                </a:solidFill>
                <a:latin typeface="Calibri"/>
                <a:ea typeface="Calibri"/>
                <a:cs typeface="Calibri"/>
                <a:sym typeface="Calibri"/>
              </a:rPr>
            </a:br>
            <a:r>
              <a:rPr lang="en">
                <a:solidFill>
                  <a:schemeClr val="dk1"/>
                </a:solidFill>
                <a:latin typeface="Calibri"/>
                <a:ea typeface="Calibri"/>
                <a:cs typeface="Calibri"/>
                <a:sym typeface="Calibri"/>
              </a:rPr>
              <a:t>to the loser's count</a:t>
            </a:r>
            <a:endParaRPr>
              <a:solidFill>
                <a:schemeClr val="dk1"/>
              </a:solidFill>
              <a:latin typeface="Calibri"/>
              <a:ea typeface="Calibri"/>
              <a:cs typeface="Calibri"/>
              <a:sym typeface="Calibri"/>
            </a:endParaRPr>
          </a:p>
          <a:p>
            <a:pPr indent="-317500" lvl="1" marL="9144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the loser's node becomes uncontrolled with zero fernies.</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If absorption results in a Fernie count higher than the maximum node capacity then any excess Fernies are lost.</a:t>
            </a:r>
            <a:endParaRPr>
              <a:solidFill>
                <a:schemeClr val="dk1"/>
              </a:solidFill>
              <a:latin typeface="Calibri"/>
              <a:ea typeface="Calibri"/>
              <a:cs typeface="Calibri"/>
              <a:sym typeface="Calibri"/>
            </a:endParaRPr>
          </a:p>
          <a:p>
            <a:pPr indent="-317500" lvl="0" marL="4572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If equal, both nodes become uncontrolled (all fernies removed).</a:t>
            </a:r>
            <a:endParaRPr/>
          </a:p>
        </p:txBody>
      </p:sp>
      <p:sp>
        <p:nvSpPr>
          <p:cNvPr id="306" name="Google Shape;306;p37"/>
          <p:cNvSpPr/>
          <p:nvPr/>
        </p:nvSpPr>
        <p:spPr>
          <a:xfrm>
            <a:off x="2517300" y="2674700"/>
            <a:ext cx="1225200" cy="740400"/>
          </a:xfrm>
          <a:prstGeom prst="roundRect">
            <a:avLst>
              <a:gd fmla="val 16667" name="adj"/>
            </a:avLst>
          </a:prstGeom>
          <a:solidFill>
            <a:srgbClr val="FF0000"/>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75</a:t>
            </a:r>
            <a:endParaRPr>
              <a:latin typeface="Calibri"/>
              <a:ea typeface="Calibri"/>
              <a:cs typeface="Calibri"/>
              <a:sym typeface="Calibri"/>
            </a:endParaRPr>
          </a:p>
        </p:txBody>
      </p:sp>
      <p:sp>
        <p:nvSpPr>
          <p:cNvPr id="307" name="Google Shape;307;p37"/>
          <p:cNvSpPr/>
          <p:nvPr/>
        </p:nvSpPr>
        <p:spPr>
          <a:xfrm>
            <a:off x="3920475" y="2674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308" name="Google Shape;308;p37"/>
          <p:cNvSpPr/>
          <p:nvPr/>
        </p:nvSpPr>
        <p:spPr>
          <a:xfrm>
            <a:off x="5323650"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09" name="Google Shape;309;p37"/>
          <p:cNvSpPr/>
          <p:nvPr/>
        </p:nvSpPr>
        <p:spPr>
          <a:xfrm>
            <a:off x="1114125"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10" name="Google Shape;310;p37"/>
          <p:cNvSpPr/>
          <p:nvPr/>
        </p:nvSpPr>
        <p:spPr>
          <a:xfrm>
            <a:off x="2517300" y="4141700"/>
            <a:ext cx="1225200" cy="740400"/>
          </a:xfrm>
          <a:prstGeom prst="roundRect">
            <a:avLst>
              <a:gd fmla="val 16667" name="adj"/>
            </a:avLst>
          </a:prstGeom>
          <a:solidFill>
            <a:srgbClr val="FF0000"/>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125</a:t>
            </a:r>
            <a:endParaRPr>
              <a:latin typeface="Calibri"/>
              <a:ea typeface="Calibri"/>
              <a:cs typeface="Calibri"/>
              <a:sym typeface="Calibri"/>
            </a:endParaRPr>
          </a:p>
        </p:txBody>
      </p:sp>
      <p:sp>
        <p:nvSpPr>
          <p:cNvPr id="311" name="Google Shape;311;p37"/>
          <p:cNvSpPr/>
          <p:nvPr/>
        </p:nvSpPr>
        <p:spPr>
          <a:xfrm>
            <a:off x="3920475"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12" name="Google Shape;312;p37"/>
          <p:cNvSpPr/>
          <p:nvPr/>
        </p:nvSpPr>
        <p:spPr>
          <a:xfrm>
            <a:off x="5323650"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13" name="Google Shape;313;p37"/>
          <p:cNvSpPr/>
          <p:nvPr/>
        </p:nvSpPr>
        <p:spPr>
          <a:xfrm>
            <a:off x="3602925" y="3625250"/>
            <a:ext cx="394200" cy="3063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4" name="Google Shape;314;p37"/>
          <p:cNvSpPr txBox="1"/>
          <p:nvPr/>
        </p:nvSpPr>
        <p:spPr>
          <a:xfrm>
            <a:off x="6726825" y="2530025"/>
            <a:ext cx="240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Red has 75 Fernies bordering a blue node with 50 Fernies</a:t>
            </a:r>
            <a:endParaRPr>
              <a:solidFill>
                <a:schemeClr val="dk1"/>
              </a:solidFill>
              <a:latin typeface="Calibri"/>
              <a:ea typeface="Calibri"/>
              <a:cs typeface="Calibri"/>
              <a:sym typeface="Calibri"/>
            </a:endParaRPr>
          </a:p>
        </p:txBody>
      </p:sp>
      <p:sp>
        <p:nvSpPr>
          <p:cNvPr id="315" name="Google Shape;315;p37"/>
          <p:cNvSpPr txBox="1"/>
          <p:nvPr/>
        </p:nvSpPr>
        <p:spPr>
          <a:xfrm>
            <a:off x="6735600" y="3931550"/>
            <a:ext cx="2408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Red absorbs the 50 blue Fernies. Blue loses control of its node.</a:t>
            </a:r>
            <a:endParaRPr>
              <a:solidFill>
                <a:schemeClr val="dk1"/>
              </a:solidFill>
              <a:latin typeface="Calibri"/>
              <a:ea typeface="Calibri"/>
              <a:cs typeface="Calibri"/>
              <a:sym typeface="Calibri"/>
            </a:endParaRPr>
          </a:p>
        </p:txBody>
      </p:sp>
      <p:pic>
        <p:nvPicPr>
          <p:cNvPr descr="slime_yellow.png" id="316" name="Google Shape;316;p37"/>
          <p:cNvPicPr preferRelativeResize="0"/>
          <p:nvPr/>
        </p:nvPicPr>
        <p:blipFill rotWithShape="1">
          <a:blip r:embed="rId3">
            <a:alphaModFix/>
          </a:blip>
          <a:srcRect b="0" l="0" r="0" t="0"/>
          <a:stretch/>
        </p:blipFill>
        <p:spPr>
          <a:xfrm>
            <a:off x="7013434" y="367699"/>
            <a:ext cx="1835190" cy="1376400"/>
          </a:xfrm>
          <a:prstGeom prst="rect">
            <a:avLst/>
          </a:prstGeom>
          <a:noFill/>
          <a:ln>
            <a:noFill/>
          </a:ln>
        </p:spPr>
      </p:pic>
      <p:pic>
        <p:nvPicPr>
          <p:cNvPr id="317" name="Google Shape;317;p37" title="crosseyedFace.gif"/>
          <p:cNvPicPr preferRelativeResize="0"/>
          <p:nvPr/>
        </p:nvPicPr>
        <p:blipFill>
          <a:blip r:embed="rId4">
            <a:alphaModFix/>
          </a:blip>
          <a:stretch>
            <a:fillRect/>
          </a:stretch>
        </p:blipFill>
        <p:spPr>
          <a:xfrm>
            <a:off x="8014198" y="910500"/>
            <a:ext cx="571525" cy="571525"/>
          </a:xfrm>
          <a:prstGeom prst="rect">
            <a:avLst/>
          </a:prstGeom>
          <a:noFill/>
          <a:ln>
            <a:noFill/>
          </a:ln>
        </p:spPr>
      </p:pic>
      <p:sp>
        <p:nvSpPr>
          <p:cNvPr id="318" name="Google Shape;318;p37"/>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8"/>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Edge Battles</a:t>
            </a:r>
            <a:endParaRPr/>
          </a:p>
        </p:txBody>
      </p:sp>
      <p:sp>
        <p:nvSpPr>
          <p:cNvPr id="324" name="Google Shape;324;p38"/>
          <p:cNvSpPr/>
          <p:nvPr/>
        </p:nvSpPr>
        <p:spPr>
          <a:xfrm>
            <a:off x="1114125"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25" name="Google Shape;325;p38"/>
          <p:cNvSpPr txBox="1"/>
          <p:nvPr/>
        </p:nvSpPr>
        <p:spPr>
          <a:xfrm>
            <a:off x="594305" y="845245"/>
            <a:ext cx="7498200" cy="181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a:solidFill>
                  <a:schemeClr val="dk1"/>
                </a:solidFill>
                <a:latin typeface="Calibri"/>
                <a:ea typeface="Calibri"/>
                <a:cs typeface="Calibri"/>
                <a:sym typeface="Calibri"/>
              </a:rPr>
              <a:t>Edge battles are fought on the edge between two nodes controlled by opposing players</a:t>
            </a:r>
            <a:endParaRPr/>
          </a:p>
          <a:p>
            <a:pPr indent="-317500" lvl="0" marL="4572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The player with more fernies absorbs the other</a:t>
            </a:r>
            <a:endParaRPr>
              <a:solidFill>
                <a:schemeClr val="dk1"/>
              </a:solidFill>
              <a:latin typeface="Calibri"/>
              <a:ea typeface="Calibri"/>
              <a:cs typeface="Calibri"/>
              <a:sym typeface="Calibri"/>
            </a:endParaRPr>
          </a:p>
          <a:p>
            <a:pPr indent="-317500" lvl="1" marL="9144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winner keeps their node and gains fernies equal</a:t>
            </a:r>
            <a:br>
              <a:rPr lang="en">
                <a:solidFill>
                  <a:schemeClr val="dk1"/>
                </a:solidFill>
                <a:latin typeface="Calibri"/>
                <a:ea typeface="Calibri"/>
                <a:cs typeface="Calibri"/>
                <a:sym typeface="Calibri"/>
              </a:rPr>
            </a:br>
            <a:r>
              <a:rPr lang="en">
                <a:solidFill>
                  <a:schemeClr val="dk1"/>
                </a:solidFill>
                <a:latin typeface="Calibri"/>
                <a:ea typeface="Calibri"/>
                <a:cs typeface="Calibri"/>
                <a:sym typeface="Calibri"/>
              </a:rPr>
              <a:t>to the loser's count</a:t>
            </a:r>
            <a:endParaRPr>
              <a:solidFill>
                <a:schemeClr val="dk1"/>
              </a:solidFill>
              <a:latin typeface="Calibri"/>
              <a:ea typeface="Calibri"/>
              <a:cs typeface="Calibri"/>
              <a:sym typeface="Calibri"/>
            </a:endParaRPr>
          </a:p>
          <a:p>
            <a:pPr indent="-317500" lvl="1" marL="9144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the loser's node becomes uncontrolled with zero fernies.</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If absorption results in a Fernie count higher than the maximum node capacity then any excess Fernies are lost.</a:t>
            </a:r>
            <a:endParaRPr>
              <a:solidFill>
                <a:schemeClr val="dk1"/>
              </a:solidFill>
              <a:latin typeface="Calibri"/>
              <a:ea typeface="Calibri"/>
              <a:cs typeface="Calibri"/>
              <a:sym typeface="Calibri"/>
            </a:endParaRPr>
          </a:p>
          <a:p>
            <a:pPr indent="-317500" lvl="0" marL="4572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If equal, both nodes become uncontrolled (all fernies removed).</a:t>
            </a:r>
            <a:endParaRPr/>
          </a:p>
        </p:txBody>
      </p:sp>
      <p:sp>
        <p:nvSpPr>
          <p:cNvPr id="326" name="Google Shape;326;p38"/>
          <p:cNvSpPr/>
          <p:nvPr/>
        </p:nvSpPr>
        <p:spPr>
          <a:xfrm>
            <a:off x="2517300" y="2674700"/>
            <a:ext cx="1225200" cy="740400"/>
          </a:xfrm>
          <a:prstGeom prst="roundRect">
            <a:avLst>
              <a:gd fmla="val 16667" name="adj"/>
            </a:avLst>
          </a:prstGeom>
          <a:solidFill>
            <a:srgbClr val="FF0000"/>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327" name="Google Shape;327;p38"/>
          <p:cNvSpPr/>
          <p:nvPr/>
        </p:nvSpPr>
        <p:spPr>
          <a:xfrm>
            <a:off x="3920475" y="2674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328" name="Google Shape;328;p38"/>
          <p:cNvSpPr/>
          <p:nvPr/>
        </p:nvSpPr>
        <p:spPr>
          <a:xfrm>
            <a:off x="5323650"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29" name="Google Shape;329;p38"/>
          <p:cNvSpPr/>
          <p:nvPr/>
        </p:nvSpPr>
        <p:spPr>
          <a:xfrm>
            <a:off x="1114125"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30" name="Google Shape;330;p38"/>
          <p:cNvSpPr/>
          <p:nvPr/>
        </p:nvSpPr>
        <p:spPr>
          <a:xfrm>
            <a:off x="2517300"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31" name="Google Shape;331;p38"/>
          <p:cNvSpPr/>
          <p:nvPr/>
        </p:nvSpPr>
        <p:spPr>
          <a:xfrm>
            <a:off x="3920475"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32" name="Google Shape;332;p38"/>
          <p:cNvSpPr/>
          <p:nvPr/>
        </p:nvSpPr>
        <p:spPr>
          <a:xfrm>
            <a:off x="5323650"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33" name="Google Shape;333;p38"/>
          <p:cNvSpPr/>
          <p:nvPr/>
        </p:nvSpPr>
        <p:spPr>
          <a:xfrm>
            <a:off x="3602925" y="3625250"/>
            <a:ext cx="394200" cy="3063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34" name="Google Shape;334;p38"/>
          <p:cNvSpPr txBox="1"/>
          <p:nvPr/>
        </p:nvSpPr>
        <p:spPr>
          <a:xfrm>
            <a:off x="6726825" y="2530025"/>
            <a:ext cx="240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Red has 50 Fernies bordering a blue node with 50 Fernies</a:t>
            </a:r>
            <a:endParaRPr>
              <a:solidFill>
                <a:schemeClr val="dk1"/>
              </a:solidFill>
              <a:latin typeface="Calibri"/>
              <a:ea typeface="Calibri"/>
              <a:cs typeface="Calibri"/>
              <a:sym typeface="Calibri"/>
            </a:endParaRPr>
          </a:p>
        </p:txBody>
      </p:sp>
      <p:sp>
        <p:nvSpPr>
          <p:cNvPr id="335" name="Google Shape;335;p38"/>
          <p:cNvSpPr txBox="1"/>
          <p:nvPr/>
        </p:nvSpPr>
        <p:spPr>
          <a:xfrm>
            <a:off x="6735600" y="3931550"/>
            <a:ext cx="2408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Both sides cancel each other out and lose control of their nodes</a:t>
            </a:r>
            <a:endParaRPr>
              <a:solidFill>
                <a:schemeClr val="dk1"/>
              </a:solidFill>
              <a:latin typeface="Calibri"/>
              <a:ea typeface="Calibri"/>
              <a:cs typeface="Calibri"/>
              <a:sym typeface="Calibri"/>
            </a:endParaRPr>
          </a:p>
        </p:txBody>
      </p:sp>
      <p:pic>
        <p:nvPicPr>
          <p:cNvPr descr="slime_yellow.png" id="336" name="Google Shape;336;p38"/>
          <p:cNvPicPr preferRelativeResize="0"/>
          <p:nvPr/>
        </p:nvPicPr>
        <p:blipFill rotWithShape="1">
          <a:blip r:embed="rId3">
            <a:alphaModFix/>
          </a:blip>
          <a:srcRect b="0" l="0" r="0" t="0"/>
          <a:stretch/>
        </p:blipFill>
        <p:spPr>
          <a:xfrm>
            <a:off x="7022209" y="274324"/>
            <a:ext cx="1835190" cy="1376400"/>
          </a:xfrm>
          <a:prstGeom prst="rect">
            <a:avLst/>
          </a:prstGeom>
          <a:noFill/>
          <a:ln>
            <a:noFill/>
          </a:ln>
        </p:spPr>
      </p:pic>
      <p:pic>
        <p:nvPicPr>
          <p:cNvPr id="337" name="Google Shape;337;p38" title="mildFace.gif"/>
          <p:cNvPicPr preferRelativeResize="0"/>
          <p:nvPr/>
        </p:nvPicPr>
        <p:blipFill>
          <a:blip r:embed="rId4">
            <a:alphaModFix/>
          </a:blip>
          <a:stretch>
            <a:fillRect/>
          </a:stretch>
        </p:blipFill>
        <p:spPr>
          <a:xfrm>
            <a:off x="7334700" y="654729"/>
            <a:ext cx="615600" cy="615600"/>
          </a:xfrm>
          <a:prstGeom prst="rect">
            <a:avLst/>
          </a:prstGeom>
          <a:noFill/>
          <a:ln>
            <a:noFill/>
          </a:ln>
        </p:spPr>
      </p:pic>
      <p:sp>
        <p:nvSpPr>
          <p:cNvPr id="338" name="Google Shape;338;p38"/>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9"/>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Resolution Phase: </a:t>
            </a:r>
            <a:r>
              <a:rPr b="1" lang="en" sz="3400">
                <a:solidFill>
                  <a:schemeClr val="dk1"/>
                </a:solidFill>
                <a:latin typeface="Calibri"/>
                <a:ea typeface="Calibri"/>
                <a:cs typeface="Calibri"/>
                <a:sym typeface="Calibri"/>
              </a:rPr>
              <a:t>Triple Battles</a:t>
            </a:r>
            <a:endParaRPr/>
          </a:p>
        </p:txBody>
      </p:sp>
      <p:sp>
        <p:nvSpPr>
          <p:cNvPr id="344" name="Google Shape;344;p39"/>
          <p:cNvSpPr txBox="1"/>
          <p:nvPr/>
        </p:nvSpPr>
        <p:spPr>
          <a:xfrm>
            <a:off x="640080" y="960120"/>
            <a:ext cx="7498200" cy="170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The Ring search may also result in a third type of battle: a triple battle</a:t>
            </a:r>
            <a:endParaRPr sz="1500">
              <a:solidFill>
                <a:schemeClr val="dk1"/>
              </a:solidFill>
              <a:latin typeface="Calibri"/>
              <a:ea typeface="Calibri"/>
              <a:cs typeface="Calibri"/>
              <a:sym typeface="Calibri"/>
            </a:endParaRPr>
          </a:p>
          <a:p>
            <a:pPr indent="-323850" lvl="0" marL="457200" marR="0" rtl="0" algn="l">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If ownership alternates across three consecutive nodes (A-B-A), then all Fernies present in these nodes are involved in the battle</a:t>
            </a:r>
            <a:endParaRPr sz="1100"/>
          </a:p>
          <a:p>
            <a:pPr indent="-323850" lvl="0" marL="457200" marR="0" rtl="0" algn="l">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Again the player with the highest total of Fernies wins</a:t>
            </a:r>
            <a:endParaRPr sz="1300"/>
          </a:p>
          <a:p>
            <a:pPr indent="-323850" lvl="1" marL="914400" marR="0" rtl="0" algn="l">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Similarly a</a:t>
            </a:r>
            <a:r>
              <a:rPr lang="en" sz="1500">
                <a:solidFill>
                  <a:schemeClr val="dk1"/>
                </a:solidFill>
                <a:latin typeface="Calibri"/>
                <a:ea typeface="Calibri"/>
                <a:cs typeface="Calibri"/>
                <a:sym typeface="Calibri"/>
              </a:rPr>
              <a:t> tie results in a loss of </a:t>
            </a:r>
            <a:r>
              <a:rPr lang="en" sz="1500">
                <a:solidFill>
                  <a:schemeClr val="dk1"/>
                </a:solidFill>
                <a:latin typeface="Calibri"/>
                <a:ea typeface="Calibri"/>
                <a:cs typeface="Calibri"/>
                <a:sym typeface="Calibri"/>
              </a:rPr>
              <a:t>ownership</a:t>
            </a:r>
            <a:r>
              <a:rPr lang="en" sz="1500">
                <a:solidFill>
                  <a:schemeClr val="dk1"/>
                </a:solidFill>
                <a:latin typeface="Calibri"/>
                <a:ea typeface="Calibri"/>
                <a:cs typeface="Calibri"/>
                <a:sym typeface="Calibri"/>
              </a:rPr>
              <a:t> for both players</a:t>
            </a:r>
            <a:endParaRPr sz="1500">
              <a:solidFill>
                <a:schemeClr val="dk1"/>
              </a:solidFill>
              <a:latin typeface="Calibri"/>
              <a:ea typeface="Calibri"/>
              <a:cs typeface="Calibri"/>
              <a:sym typeface="Calibri"/>
            </a:endParaRPr>
          </a:p>
          <a:p>
            <a:pPr indent="-323850" lvl="0" marL="457200" marR="0" rtl="0" algn="l">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The winner gains control of his opponents node(s) and Fernies but no Fernies are moved in this process</a:t>
            </a:r>
            <a:endParaRPr sz="1500">
              <a:solidFill>
                <a:schemeClr val="dk1"/>
              </a:solidFill>
              <a:latin typeface="Calibri"/>
              <a:ea typeface="Calibri"/>
              <a:cs typeface="Calibri"/>
              <a:sym typeface="Calibri"/>
            </a:endParaRPr>
          </a:p>
        </p:txBody>
      </p:sp>
      <p:pic>
        <p:nvPicPr>
          <p:cNvPr descr="slime_yellow.png" id="345" name="Google Shape;345;p39"/>
          <p:cNvPicPr preferRelativeResize="0"/>
          <p:nvPr/>
        </p:nvPicPr>
        <p:blipFill rotWithShape="1">
          <a:blip r:embed="rId3">
            <a:alphaModFix/>
          </a:blip>
          <a:srcRect b="0" l="0" r="0" t="0"/>
          <a:stretch/>
        </p:blipFill>
        <p:spPr>
          <a:xfrm>
            <a:off x="7015753" y="3415097"/>
            <a:ext cx="1849500" cy="1387125"/>
          </a:xfrm>
          <a:prstGeom prst="rect">
            <a:avLst/>
          </a:prstGeom>
          <a:noFill/>
          <a:ln>
            <a:noFill/>
          </a:ln>
        </p:spPr>
      </p:pic>
      <p:sp>
        <p:nvSpPr>
          <p:cNvPr id="346" name="Google Shape;346;p39"/>
          <p:cNvSpPr/>
          <p:nvPr/>
        </p:nvSpPr>
        <p:spPr>
          <a:xfrm>
            <a:off x="1114125" y="2674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347" name="Google Shape;347;p39"/>
          <p:cNvSpPr/>
          <p:nvPr/>
        </p:nvSpPr>
        <p:spPr>
          <a:xfrm>
            <a:off x="2517300" y="2674700"/>
            <a:ext cx="1225200" cy="740400"/>
          </a:xfrm>
          <a:prstGeom prst="roundRect">
            <a:avLst>
              <a:gd fmla="val 16667" name="adj"/>
            </a:avLst>
          </a:prstGeom>
          <a:solidFill>
            <a:srgbClr val="FF0000"/>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75</a:t>
            </a:r>
            <a:endParaRPr>
              <a:latin typeface="Calibri"/>
              <a:ea typeface="Calibri"/>
              <a:cs typeface="Calibri"/>
              <a:sym typeface="Calibri"/>
            </a:endParaRPr>
          </a:p>
        </p:txBody>
      </p:sp>
      <p:sp>
        <p:nvSpPr>
          <p:cNvPr id="348" name="Google Shape;348;p39"/>
          <p:cNvSpPr/>
          <p:nvPr/>
        </p:nvSpPr>
        <p:spPr>
          <a:xfrm>
            <a:off x="3920475" y="2674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349" name="Google Shape;349;p39"/>
          <p:cNvSpPr/>
          <p:nvPr/>
        </p:nvSpPr>
        <p:spPr>
          <a:xfrm>
            <a:off x="5323650"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50" name="Google Shape;350;p39"/>
          <p:cNvSpPr/>
          <p:nvPr/>
        </p:nvSpPr>
        <p:spPr>
          <a:xfrm>
            <a:off x="1114125" y="4141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351" name="Google Shape;351;p39"/>
          <p:cNvSpPr/>
          <p:nvPr/>
        </p:nvSpPr>
        <p:spPr>
          <a:xfrm>
            <a:off x="2517300" y="4141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75</a:t>
            </a:r>
            <a:endParaRPr>
              <a:latin typeface="Calibri"/>
              <a:ea typeface="Calibri"/>
              <a:cs typeface="Calibri"/>
              <a:sym typeface="Calibri"/>
            </a:endParaRPr>
          </a:p>
        </p:txBody>
      </p:sp>
      <p:sp>
        <p:nvSpPr>
          <p:cNvPr id="352" name="Google Shape;352;p39"/>
          <p:cNvSpPr/>
          <p:nvPr/>
        </p:nvSpPr>
        <p:spPr>
          <a:xfrm>
            <a:off x="3920475" y="4141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353" name="Google Shape;353;p39"/>
          <p:cNvSpPr/>
          <p:nvPr/>
        </p:nvSpPr>
        <p:spPr>
          <a:xfrm>
            <a:off x="5323650"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54" name="Google Shape;354;p39"/>
          <p:cNvSpPr/>
          <p:nvPr/>
        </p:nvSpPr>
        <p:spPr>
          <a:xfrm>
            <a:off x="3602925" y="3625250"/>
            <a:ext cx="394200" cy="3063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55" name="Google Shape;355;p39" title="dullFace.gif"/>
          <p:cNvPicPr preferRelativeResize="0"/>
          <p:nvPr/>
        </p:nvPicPr>
        <p:blipFill>
          <a:blip r:embed="rId4">
            <a:alphaModFix/>
          </a:blip>
          <a:stretch>
            <a:fillRect/>
          </a:stretch>
        </p:blipFill>
        <p:spPr>
          <a:xfrm>
            <a:off x="7397875" y="3738463"/>
            <a:ext cx="740400" cy="740400"/>
          </a:xfrm>
          <a:prstGeom prst="rect">
            <a:avLst/>
          </a:prstGeom>
          <a:noFill/>
          <a:ln>
            <a:noFill/>
          </a:ln>
        </p:spPr>
      </p:pic>
      <p:sp>
        <p:nvSpPr>
          <p:cNvPr id="356" name="Google Shape;356;p39"/>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0"/>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Resolution Phase: Triple Battles</a:t>
            </a:r>
            <a:endParaRPr/>
          </a:p>
        </p:txBody>
      </p:sp>
      <p:sp>
        <p:nvSpPr>
          <p:cNvPr id="362" name="Google Shape;362;p40"/>
          <p:cNvSpPr txBox="1"/>
          <p:nvPr/>
        </p:nvSpPr>
        <p:spPr>
          <a:xfrm>
            <a:off x="640080" y="960120"/>
            <a:ext cx="7498200" cy="170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The Ring search may also result in a third type of battle: a triple battle</a:t>
            </a:r>
            <a:endParaRPr sz="1500">
              <a:solidFill>
                <a:schemeClr val="dk1"/>
              </a:solidFill>
              <a:latin typeface="Calibri"/>
              <a:ea typeface="Calibri"/>
              <a:cs typeface="Calibri"/>
              <a:sym typeface="Calibri"/>
            </a:endParaRPr>
          </a:p>
          <a:p>
            <a:pPr indent="-323850" lvl="0" marL="457200" marR="0" rtl="0" algn="l">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If ownership alternates across three consecutive nodes (A-B-A), then all Fernies present in these nodes are involved in the battle</a:t>
            </a:r>
            <a:endParaRPr sz="1100"/>
          </a:p>
          <a:p>
            <a:pPr indent="-323850" lvl="0" marL="457200" marR="0" rtl="0" algn="l">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Again the player with the highest total of Fernies wins</a:t>
            </a:r>
            <a:endParaRPr sz="1300"/>
          </a:p>
          <a:p>
            <a:pPr indent="-323850" lvl="1" marL="914400" marR="0" rtl="0" algn="l">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Similarly a tie results in a loss of ownership for both players</a:t>
            </a:r>
            <a:endParaRPr sz="1500">
              <a:solidFill>
                <a:schemeClr val="dk1"/>
              </a:solidFill>
              <a:latin typeface="Calibri"/>
              <a:ea typeface="Calibri"/>
              <a:cs typeface="Calibri"/>
              <a:sym typeface="Calibri"/>
            </a:endParaRPr>
          </a:p>
          <a:p>
            <a:pPr indent="-323850" lvl="0" marL="457200" marR="0" rtl="0" algn="l">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The winner gains control of his opponents node(s) and Fernies but no Fernies are moved in this process</a:t>
            </a:r>
            <a:endParaRPr sz="1500">
              <a:solidFill>
                <a:schemeClr val="dk1"/>
              </a:solidFill>
              <a:latin typeface="Calibri"/>
              <a:ea typeface="Calibri"/>
              <a:cs typeface="Calibri"/>
              <a:sym typeface="Calibri"/>
            </a:endParaRPr>
          </a:p>
        </p:txBody>
      </p:sp>
      <p:pic>
        <p:nvPicPr>
          <p:cNvPr descr="slime_yellow.png" id="363" name="Google Shape;363;p40"/>
          <p:cNvPicPr preferRelativeResize="0"/>
          <p:nvPr/>
        </p:nvPicPr>
        <p:blipFill rotWithShape="1">
          <a:blip r:embed="rId3">
            <a:alphaModFix/>
          </a:blip>
          <a:srcRect b="0" l="0" r="0" t="0"/>
          <a:stretch/>
        </p:blipFill>
        <p:spPr>
          <a:xfrm>
            <a:off x="6833053" y="2738822"/>
            <a:ext cx="1954900" cy="1466175"/>
          </a:xfrm>
          <a:prstGeom prst="rect">
            <a:avLst/>
          </a:prstGeom>
          <a:noFill/>
          <a:ln>
            <a:noFill/>
          </a:ln>
        </p:spPr>
      </p:pic>
      <p:sp>
        <p:nvSpPr>
          <p:cNvPr id="364" name="Google Shape;364;p40"/>
          <p:cNvSpPr/>
          <p:nvPr/>
        </p:nvSpPr>
        <p:spPr>
          <a:xfrm>
            <a:off x="1114125" y="2674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365" name="Google Shape;365;p40"/>
          <p:cNvSpPr/>
          <p:nvPr/>
        </p:nvSpPr>
        <p:spPr>
          <a:xfrm>
            <a:off x="2517300" y="2674700"/>
            <a:ext cx="1225200" cy="740400"/>
          </a:xfrm>
          <a:prstGeom prst="roundRect">
            <a:avLst>
              <a:gd fmla="val 16667" name="adj"/>
            </a:avLst>
          </a:prstGeom>
          <a:solidFill>
            <a:srgbClr val="FF0000"/>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100</a:t>
            </a:r>
            <a:endParaRPr>
              <a:latin typeface="Calibri"/>
              <a:ea typeface="Calibri"/>
              <a:cs typeface="Calibri"/>
              <a:sym typeface="Calibri"/>
            </a:endParaRPr>
          </a:p>
        </p:txBody>
      </p:sp>
      <p:sp>
        <p:nvSpPr>
          <p:cNvPr id="366" name="Google Shape;366;p40"/>
          <p:cNvSpPr/>
          <p:nvPr/>
        </p:nvSpPr>
        <p:spPr>
          <a:xfrm>
            <a:off x="3920475" y="2674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367" name="Google Shape;367;p40"/>
          <p:cNvSpPr/>
          <p:nvPr/>
        </p:nvSpPr>
        <p:spPr>
          <a:xfrm>
            <a:off x="5323650"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68" name="Google Shape;368;p40"/>
          <p:cNvSpPr/>
          <p:nvPr/>
        </p:nvSpPr>
        <p:spPr>
          <a:xfrm>
            <a:off x="1114125"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69" name="Google Shape;369;p40"/>
          <p:cNvSpPr/>
          <p:nvPr/>
        </p:nvSpPr>
        <p:spPr>
          <a:xfrm>
            <a:off x="2517300"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70" name="Google Shape;370;p40"/>
          <p:cNvSpPr/>
          <p:nvPr/>
        </p:nvSpPr>
        <p:spPr>
          <a:xfrm>
            <a:off x="3920475"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71" name="Google Shape;371;p40"/>
          <p:cNvSpPr/>
          <p:nvPr/>
        </p:nvSpPr>
        <p:spPr>
          <a:xfrm>
            <a:off x="5323650"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72" name="Google Shape;372;p40"/>
          <p:cNvSpPr/>
          <p:nvPr/>
        </p:nvSpPr>
        <p:spPr>
          <a:xfrm>
            <a:off x="3602925" y="3625250"/>
            <a:ext cx="394200" cy="3063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73" name="Google Shape;373;p40" title="angryTongueFace.gif"/>
          <p:cNvPicPr preferRelativeResize="0"/>
          <p:nvPr/>
        </p:nvPicPr>
        <p:blipFill>
          <a:blip r:embed="rId4">
            <a:alphaModFix/>
          </a:blip>
          <a:stretch>
            <a:fillRect/>
          </a:stretch>
        </p:blipFill>
        <p:spPr>
          <a:xfrm>
            <a:off x="7742675" y="3191150"/>
            <a:ext cx="740400" cy="740400"/>
          </a:xfrm>
          <a:prstGeom prst="rect">
            <a:avLst/>
          </a:prstGeom>
          <a:noFill/>
          <a:ln>
            <a:noFill/>
          </a:ln>
        </p:spPr>
      </p:pic>
      <p:sp>
        <p:nvSpPr>
          <p:cNvPr id="374" name="Google Shape;374;p40"/>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1"/>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Resolution Phase: The Safe Zone</a:t>
            </a:r>
            <a:endParaRPr/>
          </a:p>
        </p:txBody>
      </p:sp>
      <p:sp>
        <p:nvSpPr>
          <p:cNvPr id="380" name="Google Shape;380;p41"/>
          <p:cNvSpPr txBox="1"/>
          <p:nvPr/>
        </p:nvSpPr>
        <p:spPr>
          <a:xfrm>
            <a:off x="640080" y="960120"/>
            <a:ext cx="7498200" cy="129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300">
                <a:solidFill>
                  <a:schemeClr val="dk1"/>
                </a:solidFill>
                <a:latin typeface="Calibri"/>
                <a:ea typeface="Calibri"/>
                <a:cs typeface="Calibri"/>
                <a:sym typeface="Calibri"/>
              </a:rPr>
              <a:t>The resolution search starts from a specific node and continues either clockwise or counterclockwise from that node. To avoid uneven cases where the starting node is forced to fight multiple battles a safe zone is created between the starting node and the final node of the search. </a:t>
            </a:r>
            <a:endParaRPr sz="1300">
              <a:solidFill>
                <a:schemeClr val="dk1"/>
              </a:solidFill>
              <a:latin typeface="Calibri"/>
              <a:ea typeface="Calibri"/>
              <a:cs typeface="Calibri"/>
              <a:sym typeface="Calibri"/>
            </a:endParaRPr>
          </a:p>
          <a:p>
            <a:pPr indent="-311150" lvl="0" marL="4572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This safe zone is represented in game by the clockwise / counterclockwise marker:</a:t>
            </a:r>
            <a:endParaRPr sz="1300">
              <a:solidFill>
                <a:schemeClr val="dk1"/>
              </a:solidFill>
              <a:latin typeface="Calibri"/>
              <a:ea typeface="Calibri"/>
              <a:cs typeface="Calibri"/>
              <a:sym typeface="Calibri"/>
            </a:endParaRPr>
          </a:p>
          <a:p>
            <a:pPr indent="-311150" lvl="0" marL="4572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No battles occur on this edge</a:t>
            </a:r>
            <a:endParaRPr sz="1300">
              <a:solidFill>
                <a:schemeClr val="dk1"/>
              </a:solidFill>
              <a:latin typeface="Calibri"/>
              <a:ea typeface="Calibri"/>
              <a:cs typeface="Calibri"/>
              <a:sym typeface="Calibri"/>
            </a:endParaRPr>
          </a:p>
          <a:p>
            <a:pPr indent="-311150" lvl="0" marL="4572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Triple battles on this edge are treated as regular edge battles</a:t>
            </a:r>
            <a:endParaRPr sz="1300">
              <a:solidFill>
                <a:schemeClr val="dk1"/>
              </a:solidFill>
              <a:latin typeface="Calibri"/>
              <a:ea typeface="Calibri"/>
              <a:cs typeface="Calibri"/>
              <a:sym typeface="Calibri"/>
            </a:endParaRPr>
          </a:p>
        </p:txBody>
      </p:sp>
      <p:pic>
        <p:nvPicPr>
          <p:cNvPr descr="slime_yellow.png" id="381" name="Google Shape;381;p41"/>
          <p:cNvPicPr preferRelativeResize="0"/>
          <p:nvPr/>
        </p:nvPicPr>
        <p:blipFill rotWithShape="1">
          <a:blip r:embed="rId3">
            <a:alphaModFix/>
          </a:blip>
          <a:srcRect b="0" l="0" r="0" t="0"/>
          <a:stretch/>
        </p:blipFill>
        <p:spPr>
          <a:xfrm>
            <a:off x="7588425" y="44908"/>
            <a:ext cx="1432575" cy="1074431"/>
          </a:xfrm>
          <a:prstGeom prst="rect">
            <a:avLst/>
          </a:prstGeom>
          <a:noFill/>
          <a:ln>
            <a:noFill/>
          </a:ln>
        </p:spPr>
      </p:pic>
      <p:sp>
        <p:nvSpPr>
          <p:cNvPr id="382" name="Google Shape;382;p41"/>
          <p:cNvSpPr/>
          <p:nvPr/>
        </p:nvSpPr>
        <p:spPr>
          <a:xfrm>
            <a:off x="1114125" y="2674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383" name="Google Shape;383;p41"/>
          <p:cNvSpPr/>
          <p:nvPr/>
        </p:nvSpPr>
        <p:spPr>
          <a:xfrm>
            <a:off x="2517300" y="2674700"/>
            <a:ext cx="1225200" cy="740400"/>
          </a:xfrm>
          <a:prstGeom prst="roundRect">
            <a:avLst>
              <a:gd fmla="val 16667" name="adj"/>
            </a:avLst>
          </a:prstGeom>
          <a:solidFill>
            <a:srgbClr val="FF0000"/>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100</a:t>
            </a:r>
            <a:endParaRPr>
              <a:latin typeface="Calibri"/>
              <a:ea typeface="Calibri"/>
              <a:cs typeface="Calibri"/>
              <a:sym typeface="Calibri"/>
            </a:endParaRPr>
          </a:p>
        </p:txBody>
      </p:sp>
      <p:sp>
        <p:nvSpPr>
          <p:cNvPr id="384" name="Google Shape;384;p41"/>
          <p:cNvSpPr/>
          <p:nvPr/>
        </p:nvSpPr>
        <p:spPr>
          <a:xfrm>
            <a:off x="3920475" y="2674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385" name="Google Shape;385;p41"/>
          <p:cNvSpPr/>
          <p:nvPr/>
        </p:nvSpPr>
        <p:spPr>
          <a:xfrm>
            <a:off x="5323650" y="2674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86" name="Google Shape;386;p41"/>
          <p:cNvSpPr/>
          <p:nvPr/>
        </p:nvSpPr>
        <p:spPr>
          <a:xfrm>
            <a:off x="1114125"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87" name="Google Shape;387;p41"/>
          <p:cNvSpPr/>
          <p:nvPr/>
        </p:nvSpPr>
        <p:spPr>
          <a:xfrm>
            <a:off x="2517300" y="4141700"/>
            <a:ext cx="1225200" cy="740400"/>
          </a:xfrm>
          <a:prstGeom prst="roundRect">
            <a:avLst>
              <a:gd fmla="val 16667" name="adj"/>
            </a:avLst>
          </a:prstGeom>
          <a:solidFill>
            <a:srgbClr val="FF0000"/>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150</a:t>
            </a:r>
            <a:endParaRPr>
              <a:latin typeface="Calibri"/>
              <a:ea typeface="Calibri"/>
              <a:cs typeface="Calibri"/>
              <a:sym typeface="Calibri"/>
            </a:endParaRPr>
          </a:p>
        </p:txBody>
      </p:sp>
      <p:sp>
        <p:nvSpPr>
          <p:cNvPr id="388" name="Google Shape;388;p41"/>
          <p:cNvSpPr/>
          <p:nvPr/>
        </p:nvSpPr>
        <p:spPr>
          <a:xfrm>
            <a:off x="3920475" y="4141700"/>
            <a:ext cx="1225200" cy="740400"/>
          </a:xfrm>
          <a:prstGeom prst="roundRect">
            <a:avLst>
              <a:gd fmla="val 16667" name="adj"/>
            </a:avLst>
          </a:prstGeom>
          <a:solidFill>
            <a:srgbClr val="0000F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50</a:t>
            </a:r>
            <a:endParaRPr>
              <a:latin typeface="Calibri"/>
              <a:ea typeface="Calibri"/>
              <a:cs typeface="Calibri"/>
              <a:sym typeface="Calibri"/>
            </a:endParaRPr>
          </a:p>
        </p:txBody>
      </p:sp>
      <p:sp>
        <p:nvSpPr>
          <p:cNvPr id="389" name="Google Shape;389;p41"/>
          <p:cNvSpPr/>
          <p:nvPr/>
        </p:nvSpPr>
        <p:spPr>
          <a:xfrm>
            <a:off x="5323650" y="4141700"/>
            <a:ext cx="1225200" cy="7404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0</a:t>
            </a:r>
            <a:endParaRPr>
              <a:latin typeface="Calibri"/>
              <a:ea typeface="Calibri"/>
              <a:cs typeface="Calibri"/>
              <a:sym typeface="Calibri"/>
            </a:endParaRPr>
          </a:p>
        </p:txBody>
      </p:sp>
      <p:sp>
        <p:nvSpPr>
          <p:cNvPr id="390" name="Google Shape;390;p41"/>
          <p:cNvSpPr/>
          <p:nvPr/>
        </p:nvSpPr>
        <p:spPr>
          <a:xfrm>
            <a:off x="3602925" y="3836675"/>
            <a:ext cx="394200" cy="3063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1" name="Google Shape;391;p41"/>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pic>
        <p:nvPicPr>
          <p:cNvPr id="392" name="Google Shape;392;p41" title="redclockwise.gif"/>
          <p:cNvPicPr preferRelativeResize="0"/>
          <p:nvPr/>
        </p:nvPicPr>
        <p:blipFill>
          <a:blip r:embed="rId4">
            <a:alphaModFix/>
          </a:blip>
          <a:stretch>
            <a:fillRect/>
          </a:stretch>
        </p:blipFill>
        <p:spPr>
          <a:xfrm>
            <a:off x="6787625" y="1466050"/>
            <a:ext cx="466600" cy="466600"/>
          </a:xfrm>
          <a:prstGeom prst="rect">
            <a:avLst/>
          </a:prstGeom>
          <a:noFill/>
          <a:ln>
            <a:noFill/>
          </a:ln>
        </p:spPr>
      </p:pic>
      <p:pic>
        <p:nvPicPr>
          <p:cNvPr id="393" name="Google Shape;393;p41" title="bluecounterclockwise.gif"/>
          <p:cNvPicPr preferRelativeResize="0"/>
          <p:nvPr/>
        </p:nvPicPr>
        <p:blipFill>
          <a:blip r:embed="rId5">
            <a:alphaModFix/>
          </a:blip>
          <a:stretch>
            <a:fillRect/>
          </a:stretch>
        </p:blipFill>
        <p:spPr>
          <a:xfrm>
            <a:off x="7588425" y="1466050"/>
            <a:ext cx="466600" cy="466600"/>
          </a:xfrm>
          <a:prstGeom prst="rect">
            <a:avLst/>
          </a:prstGeom>
          <a:noFill/>
          <a:ln>
            <a:noFill/>
          </a:ln>
        </p:spPr>
      </p:pic>
      <p:sp>
        <p:nvSpPr>
          <p:cNvPr id="394" name="Google Shape;394;p41"/>
          <p:cNvSpPr txBox="1"/>
          <p:nvPr/>
        </p:nvSpPr>
        <p:spPr>
          <a:xfrm>
            <a:off x="7254225" y="1522350"/>
            <a:ext cx="334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Calibri"/>
                <a:ea typeface="Calibri"/>
                <a:cs typeface="Calibri"/>
                <a:sym typeface="Calibri"/>
              </a:rPr>
              <a:t>or</a:t>
            </a:r>
            <a:endParaRPr sz="1100">
              <a:solidFill>
                <a:schemeClr val="dk1"/>
              </a:solidFill>
              <a:latin typeface="Calibri"/>
              <a:ea typeface="Calibri"/>
              <a:cs typeface="Calibri"/>
              <a:sym typeface="Calibri"/>
            </a:endParaRPr>
          </a:p>
        </p:txBody>
      </p:sp>
      <p:pic>
        <p:nvPicPr>
          <p:cNvPr id="395" name="Google Shape;395;p41" title="redclockwise.gif"/>
          <p:cNvPicPr preferRelativeResize="0"/>
          <p:nvPr/>
        </p:nvPicPr>
        <p:blipFill>
          <a:blip r:embed="rId4">
            <a:alphaModFix/>
          </a:blip>
          <a:stretch>
            <a:fillRect/>
          </a:stretch>
        </p:blipFill>
        <p:spPr>
          <a:xfrm>
            <a:off x="3566725" y="2253125"/>
            <a:ext cx="466600" cy="466600"/>
          </a:xfrm>
          <a:prstGeom prst="rect">
            <a:avLst/>
          </a:prstGeom>
          <a:noFill/>
          <a:ln>
            <a:noFill/>
          </a:ln>
        </p:spPr>
      </p:pic>
      <p:sp>
        <p:nvSpPr>
          <p:cNvPr id="396" name="Google Shape;396;p41"/>
          <p:cNvSpPr txBox="1"/>
          <p:nvPr/>
        </p:nvSpPr>
        <p:spPr>
          <a:xfrm>
            <a:off x="3287313" y="3415100"/>
            <a:ext cx="102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SAFE ZONE</a:t>
            </a:r>
            <a:endParaRPr>
              <a:solidFill>
                <a:schemeClr val="dk1"/>
              </a:solidFill>
              <a:latin typeface="Calibri"/>
              <a:ea typeface="Calibri"/>
              <a:cs typeface="Calibri"/>
              <a:sym typeface="Calibri"/>
            </a:endParaRPr>
          </a:p>
        </p:txBody>
      </p:sp>
      <p:sp>
        <p:nvSpPr>
          <p:cNvPr id="397" name="Google Shape;397;p41"/>
          <p:cNvSpPr txBox="1"/>
          <p:nvPr/>
        </p:nvSpPr>
        <p:spPr>
          <a:xfrm>
            <a:off x="6787625" y="2508775"/>
            <a:ext cx="22938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On the left: a potential triple battle is treated as only an edge battle because of the safe zone. If the left most node were not held by blue no battle would occur.</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In the next turn this safe zone will likely move and this edge will no longer be safe.</a:t>
            </a:r>
            <a:endParaRPr>
              <a:solidFill>
                <a:schemeClr val="dk1"/>
              </a:solidFill>
              <a:latin typeface="Calibri"/>
              <a:ea typeface="Calibri"/>
              <a:cs typeface="Calibri"/>
              <a:sym typeface="Calibri"/>
            </a:endParaRPr>
          </a:p>
        </p:txBody>
      </p:sp>
      <p:pic>
        <p:nvPicPr>
          <p:cNvPr id="398" name="Google Shape;398;p41" title="angryEyebrowFace.gif"/>
          <p:cNvPicPr preferRelativeResize="0"/>
          <p:nvPr/>
        </p:nvPicPr>
        <p:blipFill>
          <a:blip r:embed="rId6">
            <a:alphaModFix/>
          </a:blip>
          <a:stretch>
            <a:fillRect/>
          </a:stretch>
        </p:blipFill>
        <p:spPr>
          <a:xfrm>
            <a:off x="7826445" y="274329"/>
            <a:ext cx="615600" cy="615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2"/>
          <p:cNvSpPr txBox="1"/>
          <p:nvPr/>
        </p:nvSpPr>
        <p:spPr>
          <a:xfrm>
            <a:off x="457200" y="274320"/>
            <a:ext cx="7772400" cy="82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Agent Interaction &amp; Files</a:t>
            </a:r>
            <a:endParaRPr/>
          </a:p>
        </p:txBody>
      </p:sp>
      <p:sp>
        <p:nvSpPr>
          <p:cNvPr id="404" name="Google Shape;404;p42"/>
          <p:cNvSpPr txBox="1"/>
          <p:nvPr/>
        </p:nvSpPr>
        <p:spPr>
          <a:xfrm>
            <a:off x="640077" y="960125"/>
            <a:ext cx="5017800" cy="4278900"/>
          </a:xfrm>
          <a:prstGeom prst="rect">
            <a:avLst/>
          </a:prstGeom>
          <a:noFill/>
          <a:ln>
            <a:noFill/>
          </a:ln>
        </p:spPr>
        <p:txBody>
          <a:bodyPr anchorCtr="0" anchor="t" bIns="45700" lIns="91425" spcFirstLastPara="1" rIns="91425" wrap="square" tIns="45700">
            <a:spAutoFit/>
          </a:bodyPr>
          <a:lstStyle/>
          <a:p>
            <a:pPr indent="-336550" lvl="0" marL="457200" marR="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Agent programs are run independently by the RINGwars GUI.</a:t>
            </a:r>
            <a:endParaRPr sz="1700">
              <a:solidFill>
                <a:schemeClr val="dk1"/>
              </a:solidFill>
              <a:latin typeface="Calibri"/>
              <a:ea typeface="Calibri"/>
              <a:cs typeface="Calibri"/>
              <a:sym typeface="Calibri"/>
            </a:endParaRPr>
          </a:p>
          <a:p>
            <a:pPr indent="-336550" lvl="0" marL="457200" marR="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They read a state file containing information about the current state of the ring, generate a move file containing their instructions for that turn, and then terminate.</a:t>
            </a:r>
            <a:endParaRPr sz="1700">
              <a:solidFill>
                <a:schemeClr val="dk1"/>
              </a:solidFill>
              <a:latin typeface="Calibri"/>
              <a:ea typeface="Calibri"/>
              <a:cs typeface="Calibri"/>
              <a:sym typeface="Calibri"/>
            </a:endParaRPr>
          </a:p>
          <a:p>
            <a:pPr indent="-336550" lvl="1" marL="914400" marR="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Your agent may create additional “memory” files but these must be in a plain text format (txt/json/csv) and stored in your agents state folder</a:t>
            </a:r>
            <a:endParaRPr sz="1700">
              <a:solidFill>
                <a:schemeClr val="dk1"/>
              </a:solidFill>
              <a:latin typeface="Calibri"/>
              <a:ea typeface="Calibri"/>
              <a:cs typeface="Calibri"/>
              <a:sym typeface="Calibri"/>
            </a:endParaRPr>
          </a:p>
          <a:p>
            <a:pPr indent="-336550" lvl="0" marL="457200" marR="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Any language which you can run on your computer can be handled by the GUI</a:t>
            </a:r>
            <a:endParaRPr sz="1700">
              <a:solidFill>
                <a:schemeClr val="dk1"/>
              </a:solidFill>
              <a:latin typeface="Calibri"/>
              <a:ea typeface="Calibri"/>
              <a:cs typeface="Calibri"/>
              <a:sym typeface="Calibri"/>
            </a:endParaRPr>
          </a:p>
          <a:p>
            <a:pPr indent="-336550" lvl="1" marL="914400" marR="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However this lab requires you work in Java</a:t>
            </a:r>
            <a:endParaRPr sz="1700">
              <a:solidFill>
                <a:schemeClr val="dk1"/>
              </a:solidFill>
              <a:latin typeface="Calibri"/>
              <a:ea typeface="Calibri"/>
              <a:cs typeface="Calibri"/>
              <a:sym typeface="Calibri"/>
            </a:endParaRPr>
          </a:p>
          <a:p>
            <a:pPr indent="-336550" lvl="1" marL="914400" marR="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You may still prototype your agents in a scripting language such as Python</a:t>
            </a:r>
            <a:endParaRPr sz="17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700">
              <a:solidFill>
                <a:schemeClr val="dk1"/>
              </a:solidFill>
              <a:latin typeface="Calibri"/>
              <a:ea typeface="Calibri"/>
              <a:cs typeface="Calibri"/>
              <a:sym typeface="Calibri"/>
            </a:endParaRPr>
          </a:p>
        </p:txBody>
      </p:sp>
      <p:pic>
        <p:nvPicPr>
          <p:cNvPr descr="slime_red.png" id="405" name="Google Shape;405;p42"/>
          <p:cNvPicPr preferRelativeResize="0"/>
          <p:nvPr/>
        </p:nvPicPr>
        <p:blipFill rotWithShape="1">
          <a:blip r:embed="rId3">
            <a:alphaModFix/>
          </a:blip>
          <a:srcRect b="0" l="0" r="0" t="0"/>
          <a:stretch/>
        </p:blipFill>
        <p:spPr>
          <a:xfrm>
            <a:off x="5900945" y="1162070"/>
            <a:ext cx="2750050" cy="2062549"/>
          </a:xfrm>
          <a:prstGeom prst="rect">
            <a:avLst/>
          </a:prstGeom>
          <a:noFill/>
          <a:ln>
            <a:noFill/>
          </a:ln>
        </p:spPr>
      </p:pic>
      <p:pic>
        <p:nvPicPr>
          <p:cNvPr id="406" name="Google Shape;406;p42" title="cartoonFace.gif"/>
          <p:cNvPicPr preferRelativeResize="0"/>
          <p:nvPr/>
        </p:nvPicPr>
        <p:blipFill>
          <a:blip r:embed="rId4">
            <a:alphaModFix/>
          </a:blip>
          <a:stretch>
            <a:fillRect/>
          </a:stretch>
        </p:blipFill>
        <p:spPr>
          <a:xfrm>
            <a:off x="6436875" y="1967213"/>
            <a:ext cx="923225" cy="923225"/>
          </a:xfrm>
          <a:prstGeom prst="rect">
            <a:avLst/>
          </a:prstGeom>
          <a:noFill/>
          <a:ln>
            <a:noFill/>
          </a:ln>
        </p:spPr>
      </p:pic>
      <p:pic>
        <p:nvPicPr>
          <p:cNvPr descr="slime_blue.png" id="407" name="Google Shape;407;p42"/>
          <p:cNvPicPr preferRelativeResize="0"/>
          <p:nvPr/>
        </p:nvPicPr>
        <p:blipFill rotWithShape="1">
          <a:blip r:embed="rId5">
            <a:alphaModFix/>
          </a:blip>
          <a:srcRect b="0" l="0" r="0" t="0"/>
          <a:stretch/>
        </p:blipFill>
        <p:spPr>
          <a:xfrm>
            <a:off x="5593285" y="3419885"/>
            <a:ext cx="1645920" cy="1234440"/>
          </a:xfrm>
          <a:prstGeom prst="rect">
            <a:avLst/>
          </a:prstGeom>
          <a:noFill/>
          <a:ln>
            <a:noFill/>
          </a:ln>
        </p:spPr>
      </p:pic>
      <p:pic>
        <p:nvPicPr>
          <p:cNvPr id="408" name="Google Shape;408;p42" title="cartoonFace.gif"/>
          <p:cNvPicPr preferRelativeResize="0"/>
          <p:nvPr/>
        </p:nvPicPr>
        <p:blipFill>
          <a:blip r:embed="rId4">
            <a:alphaModFix/>
          </a:blip>
          <a:stretch>
            <a:fillRect/>
          </a:stretch>
        </p:blipFill>
        <p:spPr>
          <a:xfrm>
            <a:off x="6188525" y="3891425"/>
            <a:ext cx="762900" cy="762900"/>
          </a:xfrm>
          <a:prstGeom prst="rect">
            <a:avLst/>
          </a:prstGeom>
          <a:noFill/>
          <a:ln>
            <a:noFill/>
          </a:ln>
        </p:spPr>
      </p:pic>
      <p:sp>
        <p:nvSpPr>
          <p:cNvPr id="409" name="Google Shape;409;p42"/>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3"/>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Agent Interaction &amp; Files</a:t>
            </a:r>
            <a:endParaRPr/>
          </a:p>
        </p:txBody>
      </p:sp>
      <p:sp>
        <p:nvSpPr>
          <p:cNvPr id="415" name="Google Shape;415;p43"/>
          <p:cNvSpPr txBox="1"/>
          <p:nvPr/>
        </p:nvSpPr>
        <p:spPr>
          <a:xfrm>
            <a:off x="640075" y="960125"/>
            <a:ext cx="5336700" cy="3755700"/>
          </a:xfrm>
          <a:prstGeom prst="rect">
            <a:avLst/>
          </a:prstGeom>
          <a:noFill/>
          <a:ln>
            <a:noFill/>
          </a:ln>
        </p:spPr>
        <p:txBody>
          <a:bodyPr anchorCtr="0" anchor="t" bIns="45700" lIns="91425" spcFirstLastPara="1" rIns="91425" wrap="square" tIns="45700">
            <a:spAutoFit/>
          </a:bodyPr>
          <a:lstStyle/>
          <a:p>
            <a:pPr indent="-317500" lvl="0" marL="4572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Your agent </a:t>
            </a:r>
            <a:r>
              <a:rPr lang="en">
                <a:solidFill>
                  <a:schemeClr val="dk1"/>
                </a:solidFill>
                <a:latin typeface="Calibri"/>
                <a:ea typeface="Calibri"/>
                <a:cs typeface="Calibri"/>
                <a:sym typeface="Calibri"/>
              </a:rPr>
              <a:t>will be a program named &lt;Code&gt; and have an in game name &lt;Name&gt; as well as a language call &lt;Lang&gt;</a:t>
            </a:r>
            <a:endParaRPr>
              <a:solidFill>
                <a:schemeClr val="dk1"/>
              </a:solidFill>
              <a:latin typeface="Calibri"/>
              <a:ea typeface="Calibri"/>
              <a:cs typeface="Calibri"/>
              <a:sym typeface="Calibri"/>
            </a:endParaRPr>
          </a:p>
          <a:p>
            <a:pPr indent="-317500" lvl="1" marL="9144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&lt;Name&gt; must be unique for each agent, but multiple agents can reference the same &lt;Code&gt; file.</a:t>
            </a:r>
            <a:endParaRPr>
              <a:solidFill>
                <a:schemeClr val="dk1"/>
              </a:solidFill>
              <a:latin typeface="Calibri"/>
              <a:ea typeface="Calibri"/>
              <a:cs typeface="Calibri"/>
              <a:sym typeface="Calibri"/>
            </a:endParaRPr>
          </a:p>
          <a:p>
            <a:pPr indent="-317500" lvl="1" marL="9144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Since this lab requires Java &lt;Lang&gt; should always be “java”</a:t>
            </a:r>
            <a:endParaRPr>
              <a:solidFill>
                <a:schemeClr val="dk1"/>
              </a:solidFill>
              <a:latin typeface="Calibri"/>
              <a:ea typeface="Calibri"/>
              <a:cs typeface="Calibri"/>
              <a:sym typeface="Calibri"/>
            </a:endParaRPr>
          </a:p>
          <a:p>
            <a:pPr indent="-317500" lvl="0" marL="4572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Agent code must be stored in the same folder as the RINGwars GUI</a:t>
            </a:r>
            <a:endParaRPr>
              <a:solidFill>
                <a:schemeClr val="dk1"/>
              </a:solidFill>
              <a:latin typeface="Calibri"/>
              <a:ea typeface="Calibri"/>
              <a:cs typeface="Calibri"/>
              <a:sym typeface="Calibri"/>
            </a:endParaRPr>
          </a:p>
          <a:p>
            <a:pPr indent="-317500" lvl="0" marL="4572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State files and move files will be stored in ./&lt;Name&gt;</a:t>
            </a:r>
            <a:endParaRPr>
              <a:solidFill>
                <a:schemeClr val="dk1"/>
              </a:solidFill>
              <a:latin typeface="Calibri"/>
              <a:ea typeface="Calibri"/>
              <a:cs typeface="Calibri"/>
              <a:sym typeface="Calibri"/>
            </a:endParaRPr>
          </a:p>
          <a:p>
            <a:pPr indent="-317500" lvl="1" marL="9144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This folder is created by the GUI you do not need to create it yourself</a:t>
            </a:r>
            <a:endParaRPr>
              <a:solidFill>
                <a:schemeClr val="dk1"/>
              </a:solidFill>
              <a:latin typeface="Calibri"/>
              <a:ea typeface="Calibri"/>
              <a:cs typeface="Calibri"/>
              <a:sym typeface="Calibri"/>
            </a:endParaRPr>
          </a:p>
          <a:p>
            <a:pPr indent="-317500" lvl="0" marL="4572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Each turn, the game writes a &lt;step#&gt;.txt in ./&lt;Name&gt;</a:t>
            </a:r>
            <a:endParaRPr sz="1000"/>
          </a:p>
          <a:p>
            <a:pPr indent="-317500" lvl="0" marL="4572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Your agent reads &lt;step#&gt;.txt and creates move.txt with its actions for that step.</a:t>
            </a:r>
            <a:endParaRPr>
              <a:solidFill>
                <a:schemeClr val="dk1"/>
              </a:solidFill>
              <a:latin typeface="Calibri"/>
              <a:ea typeface="Calibri"/>
              <a:cs typeface="Calibri"/>
              <a:sym typeface="Calibri"/>
            </a:endParaRPr>
          </a:p>
          <a:p>
            <a:pPr indent="-317500" lvl="1" marL="9144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You may read earlier step files or </a:t>
            </a:r>
            <a:r>
              <a:rPr lang="en">
                <a:solidFill>
                  <a:schemeClr val="dk1"/>
                </a:solidFill>
                <a:latin typeface="Calibri"/>
                <a:ea typeface="Calibri"/>
                <a:cs typeface="Calibri"/>
                <a:sym typeface="Calibri"/>
              </a:rPr>
              <a:t>create</a:t>
            </a:r>
            <a:r>
              <a:rPr lang="en">
                <a:solidFill>
                  <a:schemeClr val="dk1"/>
                </a:solidFill>
                <a:latin typeface="Calibri"/>
                <a:ea typeface="Calibri"/>
                <a:cs typeface="Calibri"/>
                <a:sym typeface="Calibri"/>
              </a:rPr>
              <a:t> separate memory files, however these files must be in a plain text format.</a:t>
            </a:r>
            <a:endParaRPr>
              <a:solidFill>
                <a:schemeClr val="dk1"/>
              </a:solidFill>
              <a:latin typeface="Calibri"/>
              <a:ea typeface="Calibri"/>
              <a:cs typeface="Calibri"/>
              <a:sym typeface="Calibri"/>
            </a:endParaRPr>
          </a:p>
          <a:p>
            <a:pPr indent="-317500" lvl="0" marL="4572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The game then reads move.txt and, if legal, applies your agent’s actions.</a:t>
            </a:r>
            <a:endParaRPr>
              <a:solidFill>
                <a:schemeClr val="dk1"/>
              </a:solidFill>
              <a:latin typeface="Calibri"/>
              <a:ea typeface="Calibri"/>
              <a:cs typeface="Calibri"/>
              <a:sym typeface="Calibri"/>
            </a:endParaRPr>
          </a:p>
        </p:txBody>
      </p:sp>
      <p:pic>
        <p:nvPicPr>
          <p:cNvPr id="416" name="Google Shape;416;p43" title="add_agent_popup2.png"/>
          <p:cNvPicPr preferRelativeResize="0"/>
          <p:nvPr/>
        </p:nvPicPr>
        <p:blipFill>
          <a:blip r:embed="rId3">
            <a:alphaModFix/>
          </a:blip>
          <a:stretch>
            <a:fillRect/>
          </a:stretch>
        </p:blipFill>
        <p:spPr>
          <a:xfrm>
            <a:off x="6061990" y="960125"/>
            <a:ext cx="2852112" cy="3469400"/>
          </a:xfrm>
          <a:prstGeom prst="rect">
            <a:avLst/>
          </a:prstGeom>
          <a:noFill/>
          <a:ln cap="flat" cmpd="sng" w="9525">
            <a:solidFill>
              <a:schemeClr val="dk2"/>
            </a:solidFill>
            <a:prstDash val="solid"/>
            <a:round/>
            <a:headEnd len="sm" w="sm" type="none"/>
            <a:tailEnd len="sm" w="sm" type="none"/>
          </a:ln>
        </p:spPr>
      </p:pic>
      <p:sp>
        <p:nvSpPr>
          <p:cNvPr id="417" name="Google Shape;417;p43"/>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4"/>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Agent Interaction &amp; Files</a:t>
            </a:r>
            <a:endParaRPr/>
          </a:p>
        </p:txBody>
      </p:sp>
      <p:pic>
        <p:nvPicPr>
          <p:cNvPr descr="slime_red.png" id="423" name="Google Shape;423;p44"/>
          <p:cNvPicPr preferRelativeResize="0"/>
          <p:nvPr/>
        </p:nvPicPr>
        <p:blipFill rotWithShape="1">
          <a:blip r:embed="rId3">
            <a:alphaModFix/>
          </a:blip>
          <a:srcRect b="0" l="0" r="0" t="0"/>
          <a:stretch/>
        </p:blipFill>
        <p:spPr>
          <a:xfrm>
            <a:off x="7134477" y="3825393"/>
            <a:ext cx="1463040" cy="1097280"/>
          </a:xfrm>
          <a:prstGeom prst="rect">
            <a:avLst/>
          </a:prstGeom>
          <a:noFill/>
          <a:ln>
            <a:noFill/>
          </a:ln>
        </p:spPr>
      </p:pic>
      <p:sp>
        <p:nvSpPr>
          <p:cNvPr id="424" name="Google Shape;424;p44"/>
          <p:cNvSpPr txBox="1"/>
          <p:nvPr/>
        </p:nvSpPr>
        <p:spPr>
          <a:xfrm>
            <a:off x="667650" y="1283550"/>
            <a:ext cx="73515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latin typeface="Calibri"/>
                <a:ea typeface="Calibri"/>
                <a:cs typeface="Calibri"/>
                <a:sym typeface="Calibri"/>
              </a:rPr>
              <a:t>What the GUI calls:</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300">
              <a:solidFill>
                <a:schemeClr val="dk1"/>
              </a:solidFill>
              <a:latin typeface="Calibri"/>
              <a:ea typeface="Calibri"/>
              <a:cs typeface="Calibri"/>
              <a:sym typeface="Calibri"/>
            </a:endParaRPr>
          </a:p>
          <a:p>
            <a:pPr indent="0" lvl="0" marL="0" rtl="0" algn="l">
              <a:spcBef>
                <a:spcPts val="0"/>
              </a:spcBef>
              <a:spcAft>
                <a:spcPts val="0"/>
              </a:spcAft>
              <a:buNone/>
            </a:pPr>
            <a:r>
              <a:rPr lang="en" sz="2800">
                <a:solidFill>
                  <a:schemeClr val="dk1"/>
                </a:solidFill>
                <a:latin typeface="Calibri"/>
                <a:ea typeface="Calibri"/>
                <a:cs typeface="Calibri"/>
                <a:sym typeface="Calibri"/>
              </a:rPr>
              <a:t> &lt;Lang&gt; &lt;Code&gt; &lt;step#&gt; &lt;Name&gt;</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 sz="1900">
                <a:solidFill>
                  <a:schemeClr val="dk1"/>
                </a:solidFill>
                <a:latin typeface="Calibri"/>
                <a:ea typeface="Calibri"/>
                <a:cs typeface="Calibri"/>
                <a:sym typeface="Calibri"/>
              </a:rPr>
              <a:t>For example:</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 sz="2500">
                <a:solidFill>
                  <a:schemeClr val="dk1"/>
                </a:solidFill>
                <a:latin typeface="Calibri"/>
                <a:ea typeface="Calibri"/>
                <a:cs typeface="Calibri"/>
                <a:sym typeface="Calibri"/>
              </a:rPr>
              <a:t>C:\RINGwarGUI\&gt;java myAgent 11 redagent</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or</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2500">
                <a:solidFill>
                  <a:schemeClr val="dk1"/>
                </a:solidFill>
                <a:latin typeface="Calibri"/>
                <a:ea typeface="Calibri"/>
                <a:cs typeface="Calibri"/>
                <a:sym typeface="Calibri"/>
              </a:rPr>
              <a:t>C:\RINGwarGUI\&gt;java -jar myAgent.jar 11 redagent</a:t>
            </a:r>
            <a:endParaRPr sz="2500">
              <a:solidFill>
                <a:schemeClr val="dk1"/>
              </a:solidFill>
              <a:latin typeface="Calibri"/>
              <a:ea typeface="Calibri"/>
              <a:cs typeface="Calibri"/>
              <a:sym typeface="Calibri"/>
            </a:endParaRPr>
          </a:p>
          <a:p>
            <a:pPr indent="0" lvl="0" marL="0" rtl="0" algn="l">
              <a:spcBef>
                <a:spcPts val="0"/>
              </a:spcBef>
              <a:spcAft>
                <a:spcPts val="0"/>
              </a:spcAft>
              <a:buNone/>
            </a:pPr>
            <a:r>
              <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 sz="1900">
                <a:solidFill>
                  <a:schemeClr val="dk1"/>
                </a:solidFill>
                <a:latin typeface="Calibri"/>
                <a:ea typeface="Calibri"/>
                <a:cs typeface="Calibri"/>
                <a:sym typeface="Calibri"/>
              </a:rPr>
              <a:t>Runs a java agent program called myAgent which must read ./redagent/11.txt and create ./redagent/move.txt </a:t>
            </a:r>
            <a:endParaRPr sz="1900">
              <a:solidFill>
                <a:schemeClr val="dk1"/>
              </a:solidFill>
              <a:latin typeface="Calibri"/>
              <a:ea typeface="Calibri"/>
              <a:cs typeface="Calibri"/>
              <a:sym typeface="Calibri"/>
            </a:endParaRPr>
          </a:p>
        </p:txBody>
      </p:sp>
      <p:pic>
        <p:nvPicPr>
          <p:cNvPr id="425" name="Google Shape;425;p44" title="add_agent_popup2.png"/>
          <p:cNvPicPr preferRelativeResize="0"/>
          <p:nvPr/>
        </p:nvPicPr>
        <p:blipFill>
          <a:blip r:embed="rId4">
            <a:alphaModFix/>
          </a:blip>
          <a:stretch>
            <a:fillRect/>
          </a:stretch>
        </p:blipFill>
        <p:spPr>
          <a:xfrm>
            <a:off x="5913025" y="274325"/>
            <a:ext cx="2401225" cy="2920901"/>
          </a:xfrm>
          <a:prstGeom prst="rect">
            <a:avLst/>
          </a:prstGeom>
          <a:noFill/>
          <a:ln cap="flat" cmpd="sng" w="9525">
            <a:solidFill>
              <a:schemeClr val="dk2"/>
            </a:solidFill>
            <a:prstDash val="solid"/>
            <a:round/>
            <a:headEnd len="sm" w="sm" type="none"/>
            <a:tailEnd len="sm" w="sm" type="none"/>
          </a:ln>
        </p:spPr>
      </p:pic>
      <p:pic>
        <p:nvPicPr>
          <p:cNvPr id="426" name="Google Shape;426;p44" title="crosseyedFace.gif"/>
          <p:cNvPicPr preferRelativeResize="0"/>
          <p:nvPr/>
        </p:nvPicPr>
        <p:blipFill>
          <a:blip r:embed="rId5">
            <a:alphaModFix/>
          </a:blip>
          <a:stretch>
            <a:fillRect/>
          </a:stretch>
        </p:blipFill>
        <p:spPr>
          <a:xfrm>
            <a:off x="7755088" y="4231179"/>
            <a:ext cx="691500" cy="691500"/>
          </a:xfrm>
          <a:prstGeom prst="rect">
            <a:avLst/>
          </a:prstGeom>
          <a:noFill/>
          <a:ln>
            <a:noFill/>
          </a:ln>
        </p:spPr>
      </p:pic>
      <p:sp>
        <p:nvSpPr>
          <p:cNvPr id="427" name="Google Shape;427;p44"/>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5"/>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Agent Interaction &amp; Files</a:t>
            </a:r>
            <a:endParaRPr/>
          </a:p>
        </p:txBody>
      </p:sp>
      <p:sp>
        <p:nvSpPr>
          <p:cNvPr id="433" name="Google Shape;433;p45"/>
          <p:cNvSpPr txBox="1"/>
          <p:nvPr/>
        </p:nvSpPr>
        <p:spPr>
          <a:xfrm>
            <a:off x="640075" y="806950"/>
            <a:ext cx="6549300" cy="2893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300">
                <a:solidFill>
                  <a:schemeClr val="dk1"/>
                </a:solidFill>
                <a:latin typeface="Calibri"/>
                <a:ea typeface="Calibri"/>
                <a:cs typeface="Calibri"/>
                <a:sym typeface="Calibri"/>
              </a:rPr>
              <a:t>&lt;step#&gt;.txt stores a representation of the current state of the ring along with the number of new Fernies your agent can add and the maximum Fernies per node.</a:t>
            </a:r>
            <a:endParaRPr sz="1300">
              <a:solidFill>
                <a:schemeClr val="dk1"/>
              </a:solidFill>
              <a:latin typeface="Calibri"/>
              <a:ea typeface="Calibri"/>
              <a:cs typeface="Calibri"/>
              <a:sym typeface="Calibri"/>
            </a:endParaRPr>
          </a:p>
          <a:p>
            <a:pPr indent="-311150" lvl="0" marL="4572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first line of &lt;step#&gt;.txt contains a comma separated list of Fernie counts.</a:t>
            </a:r>
            <a:endParaRPr sz="1300">
              <a:solidFill>
                <a:schemeClr val="dk1"/>
              </a:solidFill>
              <a:latin typeface="Calibri"/>
              <a:ea typeface="Calibri"/>
              <a:cs typeface="Calibri"/>
              <a:sym typeface="Calibri"/>
            </a:endParaRPr>
          </a:p>
          <a:p>
            <a:pPr indent="-311150" lvl="1" marL="9144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 -1 count indicates that the node is currently invisible to the agent</a:t>
            </a:r>
            <a:endParaRPr sz="1300">
              <a:solidFill>
                <a:schemeClr val="dk1"/>
              </a:solidFill>
              <a:latin typeface="Calibri"/>
              <a:ea typeface="Calibri"/>
              <a:cs typeface="Calibri"/>
              <a:sym typeface="Calibri"/>
            </a:endParaRPr>
          </a:p>
          <a:p>
            <a:pPr indent="-311150" lvl="0" marL="4572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next line indicates node ownership</a:t>
            </a:r>
            <a:endParaRPr sz="1300">
              <a:solidFill>
                <a:schemeClr val="dk1"/>
              </a:solidFill>
              <a:latin typeface="Calibri"/>
              <a:ea typeface="Calibri"/>
              <a:cs typeface="Calibri"/>
              <a:sym typeface="Calibri"/>
            </a:endParaRPr>
          </a:p>
          <a:p>
            <a:pPr indent="-311150" lvl="1" marL="9144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Y = Yours - a node controlled by the agent</a:t>
            </a:r>
            <a:endParaRPr sz="1300">
              <a:solidFill>
                <a:schemeClr val="dk1"/>
              </a:solidFill>
              <a:latin typeface="Calibri"/>
              <a:ea typeface="Calibri"/>
              <a:cs typeface="Calibri"/>
              <a:sym typeface="Calibri"/>
            </a:endParaRPr>
          </a:p>
          <a:p>
            <a:pPr indent="-311150" lvl="1" marL="9144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N = No control - a node with no controller</a:t>
            </a:r>
            <a:endParaRPr sz="1300">
              <a:solidFill>
                <a:schemeClr val="dk1"/>
              </a:solidFill>
              <a:latin typeface="Calibri"/>
              <a:ea typeface="Calibri"/>
              <a:cs typeface="Calibri"/>
              <a:sym typeface="Calibri"/>
            </a:endParaRPr>
          </a:p>
          <a:p>
            <a:pPr indent="-311150" lvl="1" marL="9144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U = Unknown</a:t>
            </a:r>
            <a:endParaRPr sz="1300">
              <a:solidFill>
                <a:schemeClr val="dk1"/>
              </a:solidFill>
              <a:latin typeface="Calibri"/>
              <a:ea typeface="Calibri"/>
              <a:cs typeface="Calibri"/>
              <a:sym typeface="Calibri"/>
            </a:endParaRPr>
          </a:p>
          <a:p>
            <a:pPr indent="-311150" lvl="1" marL="9144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Any other text = a node controlled by your opponent (represented with their name)</a:t>
            </a:r>
            <a:endParaRPr sz="1300">
              <a:solidFill>
                <a:schemeClr val="dk1"/>
              </a:solidFill>
              <a:latin typeface="Calibri"/>
              <a:ea typeface="Calibri"/>
              <a:cs typeface="Calibri"/>
              <a:sym typeface="Calibri"/>
            </a:endParaRPr>
          </a:p>
          <a:p>
            <a:pPr indent="-311150" lvl="0" marL="4572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first two lines always start with the node your agent began on and list the remaining nodes in a counterclockwise order.</a:t>
            </a:r>
            <a:endParaRPr sz="1300">
              <a:solidFill>
                <a:schemeClr val="dk1"/>
              </a:solidFill>
              <a:latin typeface="Calibri"/>
              <a:ea typeface="Calibri"/>
              <a:cs typeface="Calibri"/>
              <a:sym typeface="Calibri"/>
            </a:endParaRPr>
          </a:p>
          <a:p>
            <a:pPr indent="-311150" lvl="0" marL="4572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third line tells you how many new Fernies you can place this turn</a:t>
            </a:r>
            <a:endParaRPr sz="1300">
              <a:solidFill>
                <a:schemeClr val="dk1"/>
              </a:solidFill>
              <a:latin typeface="Calibri"/>
              <a:ea typeface="Calibri"/>
              <a:cs typeface="Calibri"/>
              <a:sym typeface="Calibri"/>
            </a:endParaRPr>
          </a:p>
          <a:p>
            <a:pPr indent="-311150" lvl="0" marL="4572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final line tells you the maximum Fernie capacity for all nodes</a:t>
            </a:r>
            <a:endParaRPr sz="1300">
              <a:solidFill>
                <a:schemeClr val="dk1"/>
              </a:solidFill>
              <a:latin typeface="Calibri"/>
              <a:ea typeface="Calibri"/>
              <a:cs typeface="Calibri"/>
              <a:sym typeface="Calibri"/>
            </a:endParaRPr>
          </a:p>
        </p:txBody>
      </p:sp>
      <p:pic>
        <p:nvPicPr>
          <p:cNvPr descr="slime_red.png" id="434" name="Google Shape;434;p45"/>
          <p:cNvPicPr preferRelativeResize="0"/>
          <p:nvPr/>
        </p:nvPicPr>
        <p:blipFill rotWithShape="1">
          <a:blip r:embed="rId3">
            <a:alphaModFix/>
          </a:blip>
          <a:srcRect b="0" l="0" r="0" t="0"/>
          <a:stretch/>
        </p:blipFill>
        <p:spPr>
          <a:xfrm>
            <a:off x="7023599" y="1150323"/>
            <a:ext cx="1818274" cy="1363700"/>
          </a:xfrm>
          <a:prstGeom prst="rect">
            <a:avLst/>
          </a:prstGeom>
          <a:noFill/>
          <a:ln>
            <a:noFill/>
          </a:ln>
        </p:spPr>
      </p:pic>
      <p:pic>
        <p:nvPicPr>
          <p:cNvPr id="435" name="Google Shape;435;p45" title="step1.png"/>
          <p:cNvPicPr preferRelativeResize="0"/>
          <p:nvPr/>
        </p:nvPicPr>
        <p:blipFill>
          <a:blip r:embed="rId4">
            <a:alphaModFix/>
          </a:blip>
          <a:stretch>
            <a:fillRect/>
          </a:stretch>
        </p:blipFill>
        <p:spPr>
          <a:xfrm>
            <a:off x="241725" y="3809400"/>
            <a:ext cx="3986600" cy="750425"/>
          </a:xfrm>
          <a:prstGeom prst="rect">
            <a:avLst/>
          </a:prstGeom>
          <a:noFill/>
          <a:ln cap="flat" cmpd="sng" w="9525">
            <a:solidFill>
              <a:schemeClr val="dk1"/>
            </a:solidFill>
            <a:prstDash val="solid"/>
            <a:round/>
            <a:headEnd len="sm" w="sm" type="none"/>
            <a:tailEnd len="sm" w="sm" type="none"/>
          </a:ln>
        </p:spPr>
      </p:pic>
      <p:pic>
        <p:nvPicPr>
          <p:cNvPr id="436" name="Google Shape;436;p45" title="step5.png"/>
          <p:cNvPicPr preferRelativeResize="0"/>
          <p:nvPr/>
        </p:nvPicPr>
        <p:blipFill>
          <a:blip r:embed="rId5">
            <a:alphaModFix/>
          </a:blip>
          <a:stretch>
            <a:fillRect/>
          </a:stretch>
        </p:blipFill>
        <p:spPr>
          <a:xfrm>
            <a:off x="4727075" y="3777063"/>
            <a:ext cx="4289297" cy="815100"/>
          </a:xfrm>
          <a:prstGeom prst="rect">
            <a:avLst/>
          </a:prstGeom>
          <a:noFill/>
          <a:ln cap="flat" cmpd="sng" w="9525">
            <a:solidFill>
              <a:schemeClr val="dk1"/>
            </a:solidFill>
            <a:prstDash val="solid"/>
            <a:round/>
            <a:headEnd len="sm" w="sm" type="none"/>
            <a:tailEnd len="sm" w="sm" type="none"/>
          </a:ln>
        </p:spPr>
      </p:pic>
      <p:sp>
        <p:nvSpPr>
          <p:cNvPr id="437" name="Google Shape;437;p45"/>
          <p:cNvSpPr txBox="1"/>
          <p:nvPr/>
        </p:nvSpPr>
        <p:spPr>
          <a:xfrm>
            <a:off x="238975" y="4466400"/>
            <a:ext cx="4065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1.txt the state file for the first step of the game.</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Note: the opposing player is not yet visible at this step.</a:t>
            </a:r>
            <a:endParaRPr sz="1200">
              <a:solidFill>
                <a:schemeClr val="dk1"/>
              </a:solidFill>
              <a:latin typeface="Calibri"/>
              <a:ea typeface="Calibri"/>
              <a:cs typeface="Calibri"/>
              <a:sym typeface="Calibri"/>
            </a:endParaRPr>
          </a:p>
        </p:txBody>
      </p:sp>
      <p:sp>
        <p:nvSpPr>
          <p:cNvPr id="438" name="Google Shape;438;p45"/>
          <p:cNvSpPr txBox="1"/>
          <p:nvPr/>
        </p:nvSpPr>
        <p:spPr>
          <a:xfrm>
            <a:off x="4838775" y="4466400"/>
            <a:ext cx="4065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5</a:t>
            </a:r>
            <a:r>
              <a:rPr lang="en" sz="1200">
                <a:solidFill>
                  <a:schemeClr val="dk1"/>
                </a:solidFill>
                <a:latin typeface="Calibri"/>
                <a:ea typeface="Calibri"/>
                <a:cs typeface="Calibri"/>
                <a:sym typeface="Calibri"/>
              </a:rPr>
              <a:t>.txt the state file for the 5th step of the same game.</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Now the opposing player “two” is visible.</a:t>
            </a:r>
            <a:endParaRPr sz="1200">
              <a:solidFill>
                <a:schemeClr val="dk1"/>
              </a:solidFill>
              <a:latin typeface="Calibri"/>
              <a:ea typeface="Calibri"/>
              <a:cs typeface="Calibri"/>
              <a:sym typeface="Calibri"/>
            </a:endParaRPr>
          </a:p>
        </p:txBody>
      </p:sp>
      <p:pic>
        <p:nvPicPr>
          <p:cNvPr id="439" name="Google Shape;439;p45" title="crosseyedFace.gif"/>
          <p:cNvPicPr preferRelativeResize="0"/>
          <p:nvPr/>
        </p:nvPicPr>
        <p:blipFill>
          <a:blip r:embed="rId6">
            <a:alphaModFix/>
          </a:blip>
          <a:stretch>
            <a:fillRect/>
          </a:stretch>
        </p:blipFill>
        <p:spPr>
          <a:xfrm>
            <a:off x="7307388" y="1551304"/>
            <a:ext cx="691500" cy="691500"/>
          </a:xfrm>
          <a:prstGeom prst="rect">
            <a:avLst/>
          </a:prstGeom>
          <a:noFill/>
          <a:ln>
            <a:noFill/>
          </a:ln>
        </p:spPr>
      </p:pic>
      <p:sp>
        <p:nvSpPr>
          <p:cNvPr id="440" name="Google Shape;440;p45"/>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6"/>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Agent Interaction &amp; Files</a:t>
            </a:r>
            <a:endParaRPr/>
          </a:p>
        </p:txBody>
      </p:sp>
      <p:sp>
        <p:nvSpPr>
          <p:cNvPr id="446" name="Google Shape;446;p46"/>
          <p:cNvSpPr txBox="1"/>
          <p:nvPr/>
        </p:nvSpPr>
        <p:spPr>
          <a:xfrm>
            <a:off x="640075" y="960125"/>
            <a:ext cx="6945000" cy="203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a:solidFill>
                  <a:schemeClr val="dk1"/>
                </a:solidFill>
                <a:latin typeface="Calibri"/>
                <a:ea typeface="Calibri"/>
                <a:cs typeface="Calibri"/>
                <a:sym typeface="Calibri"/>
              </a:rPr>
              <a:t>Your agent reads &lt;step#&gt;.txt and creates a corresponding move.txt file with its instructions for the game step.</a:t>
            </a:r>
            <a:endParaRPr>
              <a:solidFill>
                <a:schemeClr val="dk1"/>
              </a:solidFill>
              <a:latin typeface="Calibri"/>
              <a:ea typeface="Calibri"/>
              <a:cs typeface="Calibri"/>
              <a:sym typeface="Calibri"/>
            </a:endParaRPr>
          </a:p>
          <a:p>
            <a:pPr indent="-317500" lvl="0" marL="4572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Each line of move.txt  contains a different action / instruction</a:t>
            </a:r>
            <a:endParaRPr>
              <a:solidFill>
                <a:schemeClr val="dk1"/>
              </a:solidFill>
              <a:latin typeface="Calibri"/>
              <a:ea typeface="Calibri"/>
              <a:cs typeface="Calibri"/>
              <a:sym typeface="Calibri"/>
            </a:endParaRPr>
          </a:p>
          <a:p>
            <a:pPr indent="-317500" lvl="0" marL="4572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Each instruction consists of a node location and a number of Fernies to either add or remove at that location</a:t>
            </a:r>
            <a:endParaRPr>
              <a:solidFill>
                <a:schemeClr val="dk1"/>
              </a:solidFill>
              <a:latin typeface="Calibri"/>
              <a:ea typeface="Calibri"/>
              <a:cs typeface="Calibri"/>
              <a:sym typeface="Calibri"/>
            </a:endParaRPr>
          </a:p>
          <a:p>
            <a:pPr indent="-317500" lvl="1" marL="9144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Where location 0 is always your agents starting position</a:t>
            </a:r>
            <a:endParaRPr>
              <a:solidFill>
                <a:schemeClr val="dk1"/>
              </a:solidFill>
              <a:latin typeface="Calibri"/>
              <a:ea typeface="Calibri"/>
              <a:cs typeface="Calibri"/>
              <a:sym typeface="Calibri"/>
            </a:endParaRPr>
          </a:p>
          <a:p>
            <a:pPr indent="-317500" lvl="1" marL="9144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Nodes iterate counterclockwise, so node 1 is the next node beside your starting node in a counterclockwise direction</a:t>
            </a:r>
            <a:endParaRPr>
              <a:solidFill>
                <a:schemeClr val="dk1"/>
              </a:solidFill>
              <a:latin typeface="Calibri"/>
              <a:ea typeface="Calibri"/>
              <a:cs typeface="Calibri"/>
              <a:sym typeface="Calibri"/>
            </a:endParaRPr>
          </a:p>
          <a:p>
            <a:pPr indent="-317500" lvl="0" marL="457200" marR="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Negative numbers indicate </a:t>
            </a:r>
            <a:r>
              <a:rPr b="1" lang="en">
                <a:solidFill>
                  <a:schemeClr val="dk1"/>
                </a:solidFill>
                <a:latin typeface="Calibri"/>
                <a:ea typeface="Calibri"/>
                <a:cs typeface="Calibri"/>
                <a:sym typeface="Calibri"/>
              </a:rPr>
              <a:t>REMOVE </a:t>
            </a:r>
            <a:r>
              <a:rPr lang="en">
                <a:solidFill>
                  <a:schemeClr val="dk1"/>
                </a:solidFill>
                <a:latin typeface="Calibri"/>
                <a:ea typeface="Calibri"/>
                <a:cs typeface="Calibri"/>
                <a:sym typeface="Calibri"/>
              </a:rPr>
              <a:t>actions while positive numbers are </a:t>
            </a:r>
            <a:r>
              <a:rPr b="1" lang="en">
                <a:solidFill>
                  <a:schemeClr val="dk1"/>
                </a:solidFill>
                <a:latin typeface="Calibri"/>
                <a:ea typeface="Calibri"/>
                <a:cs typeface="Calibri"/>
                <a:sym typeface="Calibri"/>
              </a:rPr>
              <a:t>PLACE </a:t>
            </a:r>
            <a:r>
              <a:rPr lang="en">
                <a:solidFill>
                  <a:schemeClr val="dk1"/>
                </a:solidFill>
                <a:latin typeface="Calibri"/>
                <a:ea typeface="Calibri"/>
                <a:cs typeface="Calibri"/>
                <a:sym typeface="Calibri"/>
              </a:rPr>
              <a:t>actions</a:t>
            </a:r>
            <a:endParaRPr>
              <a:solidFill>
                <a:schemeClr val="dk1"/>
              </a:solidFill>
              <a:latin typeface="Calibri"/>
              <a:ea typeface="Calibri"/>
              <a:cs typeface="Calibri"/>
              <a:sym typeface="Calibri"/>
            </a:endParaRPr>
          </a:p>
        </p:txBody>
      </p:sp>
      <p:pic>
        <p:nvPicPr>
          <p:cNvPr descr="slime_red.png" id="447" name="Google Shape;447;p46"/>
          <p:cNvPicPr preferRelativeResize="0"/>
          <p:nvPr/>
        </p:nvPicPr>
        <p:blipFill rotWithShape="1">
          <a:blip r:embed="rId3">
            <a:alphaModFix/>
          </a:blip>
          <a:srcRect b="0" l="0" r="0" t="0"/>
          <a:stretch/>
        </p:blipFill>
        <p:spPr>
          <a:xfrm>
            <a:off x="856950" y="3210750"/>
            <a:ext cx="2157050" cy="1617800"/>
          </a:xfrm>
          <a:prstGeom prst="rect">
            <a:avLst/>
          </a:prstGeom>
          <a:noFill/>
          <a:ln>
            <a:noFill/>
          </a:ln>
        </p:spPr>
      </p:pic>
      <p:sp>
        <p:nvSpPr>
          <p:cNvPr id="448" name="Google Shape;448;p46"/>
          <p:cNvSpPr txBox="1"/>
          <p:nvPr/>
        </p:nvSpPr>
        <p:spPr>
          <a:xfrm>
            <a:off x="5202275" y="2992025"/>
            <a:ext cx="3639600" cy="197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A set of 4 actions / instructions / moves. </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b="1" lang="en" sz="1200">
                <a:solidFill>
                  <a:schemeClr val="dk1"/>
                </a:solidFill>
                <a:latin typeface="Calibri"/>
                <a:ea typeface="Calibri"/>
                <a:cs typeface="Calibri"/>
                <a:sym typeface="Calibri"/>
              </a:rPr>
              <a:t>PLACE </a:t>
            </a:r>
            <a:r>
              <a:rPr lang="en" sz="1200">
                <a:solidFill>
                  <a:schemeClr val="dk1"/>
                </a:solidFill>
                <a:latin typeface="Calibri"/>
                <a:ea typeface="Calibri"/>
                <a:cs typeface="Calibri"/>
                <a:sym typeface="Calibri"/>
              </a:rPr>
              <a:t>36 Fernies on node 1 (the first node in a counterclockwise direction from the agent’s starting node)</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b="1" lang="en" sz="1200">
                <a:solidFill>
                  <a:schemeClr val="dk1"/>
                </a:solidFill>
                <a:latin typeface="Calibri"/>
                <a:ea typeface="Calibri"/>
                <a:cs typeface="Calibri"/>
                <a:sym typeface="Calibri"/>
              </a:rPr>
              <a:t>PLACE </a:t>
            </a:r>
            <a:r>
              <a:rPr lang="en" sz="1200">
                <a:solidFill>
                  <a:schemeClr val="dk1"/>
                </a:solidFill>
                <a:latin typeface="Calibri"/>
                <a:ea typeface="Calibri"/>
                <a:cs typeface="Calibri"/>
                <a:sym typeface="Calibri"/>
              </a:rPr>
              <a:t>1 Fernie on node 17</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b="1" lang="en" sz="1200">
                <a:solidFill>
                  <a:schemeClr val="dk1"/>
                </a:solidFill>
                <a:latin typeface="Calibri"/>
                <a:ea typeface="Calibri"/>
                <a:cs typeface="Calibri"/>
                <a:sym typeface="Calibri"/>
              </a:rPr>
              <a:t>REMOVE </a:t>
            </a:r>
            <a:r>
              <a:rPr lang="en" sz="1200">
                <a:solidFill>
                  <a:schemeClr val="dk1"/>
                </a:solidFill>
                <a:latin typeface="Calibri"/>
                <a:ea typeface="Calibri"/>
                <a:cs typeface="Calibri"/>
                <a:sym typeface="Calibri"/>
              </a:rPr>
              <a:t>50 Fernies from node 0 (the agent’s initial node)</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b="1" lang="en" sz="1200">
                <a:solidFill>
                  <a:schemeClr val="dk1"/>
                </a:solidFill>
                <a:latin typeface="Calibri"/>
                <a:ea typeface="Calibri"/>
                <a:cs typeface="Calibri"/>
                <a:sym typeface="Calibri"/>
              </a:rPr>
              <a:t>PLACE </a:t>
            </a:r>
            <a:r>
              <a:rPr lang="en" sz="1200">
                <a:solidFill>
                  <a:schemeClr val="dk1"/>
                </a:solidFill>
                <a:latin typeface="Calibri"/>
                <a:ea typeface="Calibri"/>
                <a:cs typeface="Calibri"/>
                <a:sym typeface="Calibri"/>
              </a:rPr>
              <a:t>50 Fernies on node 5</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This move.txt implies that the agent </a:t>
            </a:r>
            <a:r>
              <a:rPr lang="en" sz="1000">
                <a:solidFill>
                  <a:schemeClr val="dk1"/>
                </a:solidFill>
                <a:latin typeface="Calibri"/>
                <a:ea typeface="Calibri"/>
                <a:cs typeface="Calibri"/>
                <a:sym typeface="Calibri"/>
              </a:rPr>
              <a:t>received (at least)</a:t>
            </a:r>
            <a:r>
              <a:rPr lang="en" sz="1000">
                <a:solidFill>
                  <a:schemeClr val="dk1"/>
                </a:solidFill>
                <a:latin typeface="Calibri"/>
                <a:ea typeface="Calibri"/>
                <a:cs typeface="Calibri"/>
                <a:sym typeface="Calibri"/>
              </a:rPr>
              <a:t> 37 new Fernies and had at least 50 Fernies on its starting node (node 0).</a:t>
            </a:r>
            <a:endParaRPr sz="1000">
              <a:solidFill>
                <a:schemeClr val="dk1"/>
              </a:solidFill>
              <a:latin typeface="Calibri"/>
              <a:ea typeface="Calibri"/>
              <a:cs typeface="Calibri"/>
              <a:sym typeface="Calibri"/>
            </a:endParaRPr>
          </a:p>
        </p:txBody>
      </p:sp>
      <p:pic>
        <p:nvPicPr>
          <p:cNvPr id="449" name="Google Shape;449;p46" title="moves.png"/>
          <p:cNvPicPr preferRelativeResize="0"/>
          <p:nvPr/>
        </p:nvPicPr>
        <p:blipFill>
          <a:blip r:embed="rId4">
            <a:alphaModFix/>
          </a:blip>
          <a:stretch>
            <a:fillRect/>
          </a:stretch>
        </p:blipFill>
        <p:spPr>
          <a:xfrm>
            <a:off x="3941100" y="3062225"/>
            <a:ext cx="997775" cy="1766325"/>
          </a:xfrm>
          <a:prstGeom prst="rect">
            <a:avLst/>
          </a:prstGeom>
          <a:noFill/>
          <a:ln cap="flat" cmpd="sng" w="9525">
            <a:solidFill>
              <a:schemeClr val="dk1"/>
            </a:solidFill>
            <a:prstDash val="solid"/>
            <a:round/>
            <a:headEnd len="sm" w="sm" type="none"/>
            <a:tailEnd len="sm" w="sm" type="none"/>
          </a:ln>
        </p:spPr>
      </p:pic>
      <p:pic>
        <p:nvPicPr>
          <p:cNvPr id="450" name="Google Shape;450;p46" title="angryTongueFace.gif"/>
          <p:cNvPicPr preferRelativeResize="0"/>
          <p:nvPr/>
        </p:nvPicPr>
        <p:blipFill>
          <a:blip r:embed="rId5">
            <a:alphaModFix/>
          </a:blip>
          <a:stretch>
            <a:fillRect/>
          </a:stretch>
        </p:blipFill>
        <p:spPr>
          <a:xfrm>
            <a:off x="1214050" y="3769451"/>
            <a:ext cx="881300" cy="881300"/>
          </a:xfrm>
          <a:prstGeom prst="rect">
            <a:avLst/>
          </a:prstGeom>
          <a:noFill/>
          <a:ln>
            <a:noFill/>
          </a:ln>
        </p:spPr>
      </p:pic>
      <p:sp>
        <p:nvSpPr>
          <p:cNvPr id="451" name="Google Shape;451;p46"/>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7"/>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Illegal Moves Invalidate Your Turn!!!</a:t>
            </a:r>
            <a:endParaRPr/>
          </a:p>
        </p:txBody>
      </p:sp>
      <p:sp>
        <p:nvSpPr>
          <p:cNvPr id="457" name="Google Shape;457;p47"/>
          <p:cNvSpPr txBox="1"/>
          <p:nvPr/>
        </p:nvSpPr>
        <p:spPr>
          <a:xfrm>
            <a:off x="640075" y="960125"/>
            <a:ext cx="7009800" cy="341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If you make any illegal moves during your turn all moves made during your turn will be ignored. However you will still be able to make new moves at the next turn.</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 sz="1800">
                <a:solidFill>
                  <a:schemeClr val="dk1"/>
                </a:solidFill>
                <a:latin typeface="Calibri"/>
                <a:ea typeface="Calibri"/>
                <a:cs typeface="Calibri"/>
                <a:sym typeface="Calibri"/>
              </a:rPr>
              <a:t>Illegal Moves: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Removing Fernies from a node you do not control</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Removing more Fernies than you possess from a node you do control</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Placing more Fernies than the sum of your new Fernies + any Removed Fernies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Placing Fernies on nodes outside of your visibility range</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Other moves such as not placing all your new Fernies during your turn are legal but will result in the loss of the left-over Fernies</a:t>
            </a:r>
            <a:endParaRPr sz="1800">
              <a:solidFill>
                <a:schemeClr val="dk1"/>
              </a:solidFill>
              <a:latin typeface="Calibri"/>
              <a:ea typeface="Calibri"/>
              <a:cs typeface="Calibri"/>
              <a:sym typeface="Calibri"/>
            </a:endParaRPr>
          </a:p>
        </p:txBody>
      </p:sp>
      <p:pic>
        <p:nvPicPr>
          <p:cNvPr descr="slime_yellow.png" id="458" name="Google Shape;458;p47"/>
          <p:cNvPicPr preferRelativeResize="0"/>
          <p:nvPr/>
        </p:nvPicPr>
        <p:blipFill rotWithShape="1">
          <a:blip r:embed="rId3">
            <a:alphaModFix/>
          </a:blip>
          <a:srcRect b="0" l="0" r="0" t="0"/>
          <a:stretch/>
        </p:blipFill>
        <p:spPr>
          <a:xfrm>
            <a:off x="6915655" y="1474495"/>
            <a:ext cx="2137024" cy="1602775"/>
          </a:xfrm>
          <a:prstGeom prst="rect">
            <a:avLst/>
          </a:prstGeom>
          <a:noFill/>
          <a:ln>
            <a:noFill/>
          </a:ln>
        </p:spPr>
      </p:pic>
      <p:pic>
        <p:nvPicPr>
          <p:cNvPr id="459" name="Google Shape;459;p47" title="dullFace.gif"/>
          <p:cNvPicPr preferRelativeResize="0"/>
          <p:nvPr/>
        </p:nvPicPr>
        <p:blipFill>
          <a:blip r:embed="rId4">
            <a:alphaModFix/>
          </a:blip>
          <a:stretch>
            <a:fillRect/>
          </a:stretch>
        </p:blipFill>
        <p:spPr>
          <a:xfrm>
            <a:off x="7471425" y="2225499"/>
            <a:ext cx="851775" cy="851775"/>
          </a:xfrm>
          <a:prstGeom prst="rect">
            <a:avLst/>
          </a:prstGeom>
          <a:noFill/>
          <a:ln>
            <a:noFill/>
          </a:ln>
        </p:spPr>
      </p:pic>
      <p:sp>
        <p:nvSpPr>
          <p:cNvPr id="460" name="Google Shape;460;p47"/>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8"/>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Learning to play RINGwars</a:t>
            </a:r>
            <a:endParaRPr/>
          </a:p>
        </p:txBody>
      </p:sp>
      <p:sp>
        <p:nvSpPr>
          <p:cNvPr id="466" name="Google Shape;466;p48"/>
          <p:cNvSpPr txBox="1"/>
          <p:nvPr/>
        </p:nvSpPr>
        <p:spPr>
          <a:xfrm>
            <a:off x="640080" y="960120"/>
            <a:ext cx="74982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Ultimately the best way to understand the mechanics of RINGwars is to play it for yourself. To help with this we provide HumanAgent.exe an executable which allows you to input moves.</a:t>
            </a:r>
            <a:endParaRPr sz="1800">
              <a:solidFill>
                <a:schemeClr val="dk1"/>
              </a:solidFill>
              <a:latin typeface="Calibri"/>
              <a:ea typeface="Calibri"/>
              <a:cs typeface="Calibri"/>
              <a:sym typeface="Calibri"/>
            </a:endParaRPr>
          </a:p>
        </p:txBody>
      </p:sp>
      <p:pic>
        <p:nvPicPr>
          <p:cNvPr descr="slime_yellow.png" id="467" name="Google Shape;467;p48"/>
          <p:cNvPicPr preferRelativeResize="0"/>
          <p:nvPr/>
        </p:nvPicPr>
        <p:blipFill rotWithShape="1">
          <a:blip r:embed="rId3">
            <a:alphaModFix/>
          </a:blip>
          <a:srcRect b="0" l="0" r="0" t="0"/>
          <a:stretch/>
        </p:blipFill>
        <p:spPr>
          <a:xfrm>
            <a:off x="6840227" y="3313601"/>
            <a:ext cx="1751801" cy="1313850"/>
          </a:xfrm>
          <a:prstGeom prst="rect">
            <a:avLst/>
          </a:prstGeom>
          <a:noFill/>
          <a:ln>
            <a:noFill/>
          </a:ln>
        </p:spPr>
      </p:pic>
      <p:pic>
        <p:nvPicPr>
          <p:cNvPr id="468" name="Google Shape;468;p48" title="addHuman.png"/>
          <p:cNvPicPr preferRelativeResize="0"/>
          <p:nvPr/>
        </p:nvPicPr>
        <p:blipFill>
          <a:blip r:embed="rId4">
            <a:alphaModFix/>
          </a:blip>
          <a:stretch>
            <a:fillRect/>
          </a:stretch>
        </p:blipFill>
        <p:spPr>
          <a:xfrm>
            <a:off x="3879200" y="1992900"/>
            <a:ext cx="2289100" cy="2788376"/>
          </a:xfrm>
          <a:prstGeom prst="rect">
            <a:avLst/>
          </a:prstGeom>
          <a:noFill/>
          <a:ln cap="flat" cmpd="sng" w="9525">
            <a:solidFill>
              <a:schemeClr val="dk2"/>
            </a:solidFill>
            <a:prstDash val="solid"/>
            <a:round/>
            <a:headEnd len="sm" w="sm" type="none"/>
            <a:tailEnd len="sm" w="sm" type="none"/>
          </a:ln>
        </p:spPr>
      </p:pic>
      <p:pic>
        <p:nvPicPr>
          <p:cNvPr id="469" name="Google Shape;469;p48" title="start.png"/>
          <p:cNvPicPr preferRelativeResize="0"/>
          <p:nvPr/>
        </p:nvPicPr>
        <p:blipFill>
          <a:blip r:embed="rId5">
            <a:alphaModFix/>
          </a:blip>
          <a:stretch>
            <a:fillRect/>
          </a:stretch>
        </p:blipFill>
        <p:spPr>
          <a:xfrm>
            <a:off x="918175" y="2172499"/>
            <a:ext cx="2289099" cy="2315202"/>
          </a:xfrm>
          <a:prstGeom prst="rect">
            <a:avLst/>
          </a:prstGeom>
          <a:noFill/>
          <a:ln>
            <a:noFill/>
          </a:ln>
        </p:spPr>
      </p:pic>
      <p:sp>
        <p:nvSpPr>
          <p:cNvPr id="470" name="Google Shape;470;p48"/>
          <p:cNvSpPr txBox="1"/>
          <p:nvPr/>
        </p:nvSpPr>
        <p:spPr>
          <a:xfrm>
            <a:off x="6551175" y="2087625"/>
            <a:ext cx="2433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HumanAgent.exe is added like any other agent. However its language call field must be left blank.</a:t>
            </a:r>
            <a:endParaRPr sz="1200">
              <a:solidFill>
                <a:schemeClr val="dk1"/>
              </a:solidFill>
              <a:latin typeface="Calibri"/>
              <a:ea typeface="Calibri"/>
              <a:cs typeface="Calibri"/>
              <a:sym typeface="Calibri"/>
            </a:endParaRPr>
          </a:p>
        </p:txBody>
      </p:sp>
      <p:pic>
        <p:nvPicPr>
          <p:cNvPr id="471" name="Google Shape;471;p48" title="dullFace.gif"/>
          <p:cNvPicPr preferRelativeResize="0"/>
          <p:nvPr/>
        </p:nvPicPr>
        <p:blipFill>
          <a:blip r:embed="rId6">
            <a:alphaModFix/>
          </a:blip>
          <a:stretch>
            <a:fillRect/>
          </a:stretch>
        </p:blipFill>
        <p:spPr>
          <a:xfrm>
            <a:off x="7254415" y="3400540"/>
            <a:ext cx="923400" cy="923400"/>
          </a:xfrm>
          <a:prstGeom prst="rect">
            <a:avLst/>
          </a:prstGeom>
          <a:noFill/>
          <a:ln>
            <a:noFill/>
          </a:ln>
        </p:spPr>
      </p:pic>
      <p:sp>
        <p:nvSpPr>
          <p:cNvPr id="472" name="Google Shape;472;p48"/>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9"/>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Learning to play RINGwars</a:t>
            </a:r>
            <a:endParaRPr/>
          </a:p>
        </p:txBody>
      </p:sp>
      <p:sp>
        <p:nvSpPr>
          <p:cNvPr id="478" name="Google Shape;478;p49"/>
          <p:cNvSpPr txBox="1"/>
          <p:nvPr/>
        </p:nvSpPr>
        <p:spPr>
          <a:xfrm>
            <a:off x="640080" y="960120"/>
            <a:ext cx="7498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We recommend first playing the game with a couple instances of HumanAgent to understand how RINGwars works.</a:t>
            </a:r>
            <a:endParaRPr sz="1800">
              <a:solidFill>
                <a:schemeClr val="dk1"/>
              </a:solidFill>
              <a:latin typeface="Calibri"/>
              <a:ea typeface="Calibri"/>
              <a:cs typeface="Calibri"/>
              <a:sym typeface="Calibri"/>
            </a:endParaRPr>
          </a:p>
        </p:txBody>
      </p:sp>
      <p:pic>
        <p:nvPicPr>
          <p:cNvPr descr="slime_yellow.png" id="479" name="Google Shape;479;p49"/>
          <p:cNvPicPr preferRelativeResize="0"/>
          <p:nvPr/>
        </p:nvPicPr>
        <p:blipFill rotWithShape="1">
          <a:blip r:embed="rId3">
            <a:alphaModFix/>
          </a:blip>
          <a:srcRect b="0" l="0" r="0" t="0"/>
          <a:stretch/>
        </p:blipFill>
        <p:spPr>
          <a:xfrm>
            <a:off x="7036602" y="3811643"/>
            <a:ext cx="1463040" cy="1097280"/>
          </a:xfrm>
          <a:prstGeom prst="rect">
            <a:avLst/>
          </a:prstGeom>
          <a:noFill/>
          <a:ln>
            <a:noFill/>
          </a:ln>
        </p:spPr>
      </p:pic>
      <p:pic>
        <p:nvPicPr>
          <p:cNvPr id="480" name="Google Shape;480;p49" title="start.png"/>
          <p:cNvPicPr preferRelativeResize="0"/>
          <p:nvPr/>
        </p:nvPicPr>
        <p:blipFill>
          <a:blip r:embed="rId4">
            <a:alphaModFix/>
          </a:blip>
          <a:stretch>
            <a:fillRect/>
          </a:stretch>
        </p:blipFill>
        <p:spPr>
          <a:xfrm>
            <a:off x="548050" y="2172499"/>
            <a:ext cx="2289099" cy="2315202"/>
          </a:xfrm>
          <a:prstGeom prst="rect">
            <a:avLst/>
          </a:prstGeom>
          <a:noFill/>
          <a:ln>
            <a:noFill/>
          </a:ln>
        </p:spPr>
      </p:pic>
      <p:sp>
        <p:nvSpPr>
          <p:cNvPr id="481" name="Google Shape;481;p49"/>
          <p:cNvSpPr txBox="1"/>
          <p:nvPr/>
        </p:nvSpPr>
        <p:spPr>
          <a:xfrm>
            <a:off x="6551175" y="2087625"/>
            <a:ext cx="24339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HumanAgent creates a pop-up window which displays the first 3 lines of &lt;step#&gt;.txt and allows you to input lines of move.txt</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This lets you interact with the game exactly as your programmed agents do.</a:t>
            </a:r>
            <a:endParaRPr sz="1200">
              <a:solidFill>
                <a:schemeClr val="dk1"/>
              </a:solidFill>
              <a:latin typeface="Calibri"/>
              <a:ea typeface="Calibri"/>
              <a:cs typeface="Calibri"/>
              <a:sym typeface="Calibri"/>
            </a:endParaRPr>
          </a:p>
        </p:txBody>
      </p:sp>
      <p:pic>
        <p:nvPicPr>
          <p:cNvPr id="482" name="Google Shape;482;p49" title="human.png"/>
          <p:cNvPicPr preferRelativeResize="0"/>
          <p:nvPr/>
        </p:nvPicPr>
        <p:blipFill>
          <a:blip r:embed="rId5">
            <a:alphaModFix/>
          </a:blip>
          <a:stretch>
            <a:fillRect/>
          </a:stretch>
        </p:blipFill>
        <p:spPr>
          <a:xfrm>
            <a:off x="3346924" y="1953733"/>
            <a:ext cx="2885057" cy="2955180"/>
          </a:xfrm>
          <a:prstGeom prst="rect">
            <a:avLst/>
          </a:prstGeom>
          <a:noFill/>
          <a:ln cap="flat" cmpd="sng" w="9525">
            <a:solidFill>
              <a:schemeClr val="dk2"/>
            </a:solidFill>
            <a:prstDash val="solid"/>
            <a:round/>
            <a:headEnd len="sm" w="sm" type="none"/>
            <a:tailEnd len="sm" w="sm" type="none"/>
          </a:ln>
        </p:spPr>
      </p:pic>
      <p:pic>
        <p:nvPicPr>
          <p:cNvPr id="483" name="Google Shape;483;p49" title="crosseyedFace.gif"/>
          <p:cNvPicPr preferRelativeResize="0"/>
          <p:nvPr/>
        </p:nvPicPr>
        <p:blipFill>
          <a:blip r:embed="rId6">
            <a:alphaModFix/>
          </a:blip>
          <a:stretch>
            <a:fillRect/>
          </a:stretch>
        </p:blipFill>
        <p:spPr>
          <a:xfrm>
            <a:off x="7172333" y="4230926"/>
            <a:ext cx="460875" cy="460875"/>
          </a:xfrm>
          <a:prstGeom prst="rect">
            <a:avLst/>
          </a:prstGeom>
          <a:noFill/>
          <a:ln>
            <a:noFill/>
          </a:ln>
        </p:spPr>
      </p:pic>
      <p:sp>
        <p:nvSpPr>
          <p:cNvPr id="484" name="Google Shape;484;p49"/>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0"/>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Learning to play RINGwars</a:t>
            </a:r>
            <a:endParaRPr/>
          </a:p>
        </p:txBody>
      </p:sp>
      <p:sp>
        <p:nvSpPr>
          <p:cNvPr id="490" name="Google Shape;490;p50"/>
          <p:cNvSpPr txBox="1"/>
          <p:nvPr/>
        </p:nvSpPr>
        <p:spPr>
          <a:xfrm>
            <a:off x="640080" y="960120"/>
            <a:ext cx="7498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Additionally we have provided you will one demo Agent: Agent2.java</a:t>
            </a:r>
            <a:endParaRPr sz="1800">
              <a:solidFill>
                <a:schemeClr val="dk1"/>
              </a:solidFill>
              <a:latin typeface="Calibri"/>
              <a:ea typeface="Calibri"/>
              <a:cs typeface="Calibri"/>
              <a:sym typeface="Calibri"/>
            </a:endParaRPr>
          </a:p>
        </p:txBody>
      </p:sp>
      <p:pic>
        <p:nvPicPr>
          <p:cNvPr descr="slime_yellow.png" id="491" name="Google Shape;491;p50"/>
          <p:cNvPicPr preferRelativeResize="0"/>
          <p:nvPr/>
        </p:nvPicPr>
        <p:blipFill rotWithShape="1">
          <a:blip r:embed="rId3">
            <a:alphaModFix/>
          </a:blip>
          <a:srcRect b="0" l="0" r="0" t="0"/>
          <a:stretch/>
        </p:blipFill>
        <p:spPr>
          <a:xfrm>
            <a:off x="6660852" y="3529826"/>
            <a:ext cx="1838800" cy="1379100"/>
          </a:xfrm>
          <a:prstGeom prst="rect">
            <a:avLst/>
          </a:prstGeom>
          <a:noFill/>
          <a:ln>
            <a:noFill/>
          </a:ln>
        </p:spPr>
      </p:pic>
      <p:sp>
        <p:nvSpPr>
          <p:cNvPr id="492" name="Google Shape;492;p50"/>
          <p:cNvSpPr txBox="1"/>
          <p:nvPr/>
        </p:nvSpPr>
        <p:spPr>
          <a:xfrm>
            <a:off x="3954250" y="1648200"/>
            <a:ext cx="27756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Calibri"/>
                <a:ea typeface="Calibri"/>
                <a:cs typeface="Calibri"/>
                <a:sym typeface="Calibri"/>
              </a:rPr>
              <a:t>Agent2 is a simple agent which places its new Fernies on one randomly selected legal position in the ring.</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 sz="1500">
                <a:solidFill>
                  <a:schemeClr val="dk1"/>
                </a:solidFill>
                <a:latin typeface="Calibri"/>
                <a:ea typeface="Calibri"/>
                <a:cs typeface="Calibri"/>
                <a:sym typeface="Calibri"/>
              </a:rPr>
              <a:t>You will need to compile Agent2.java on your machine. The image on the left shows how to add a compiled version of Agent2 to the game.</a:t>
            </a:r>
            <a:endParaRPr sz="1500">
              <a:solidFill>
                <a:schemeClr val="dk1"/>
              </a:solidFill>
              <a:latin typeface="Calibri"/>
              <a:ea typeface="Calibri"/>
              <a:cs typeface="Calibri"/>
              <a:sym typeface="Calibri"/>
            </a:endParaRPr>
          </a:p>
        </p:txBody>
      </p:sp>
      <p:pic>
        <p:nvPicPr>
          <p:cNvPr id="493" name="Google Shape;493;p50" title="addAgent2.png"/>
          <p:cNvPicPr preferRelativeResize="0"/>
          <p:nvPr/>
        </p:nvPicPr>
        <p:blipFill>
          <a:blip r:embed="rId4">
            <a:alphaModFix/>
          </a:blip>
          <a:stretch>
            <a:fillRect/>
          </a:stretch>
        </p:blipFill>
        <p:spPr>
          <a:xfrm>
            <a:off x="640087" y="1456295"/>
            <a:ext cx="2886283" cy="3509279"/>
          </a:xfrm>
          <a:prstGeom prst="rect">
            <a:avLst/>
          </a:prstGeom>
          <a:noFill/>
          <a:ln cap="flat" cmpd="sng" w="9525">
            <a:solidFill>
              <a:schemeClr val="dk1"/>
            </a:solidFill>
            <a:prstDash val="solid"/>
            <a:round/>
            <a:headEnd len="sm" w="sm" type="none"/>
            <a:tailEnd len="sm" w="sm" type="none"/>
          </a:ln>
        </p:spPr>
      </p:pic>
      <p:pic>
        <p:nvPicPr>
          <p:cNvPr id="494" name="Google Shape;494;p50" title="crosseyedFace.gif"/>
          <p:cNvPicPr preferRelativeResize="0"/>
          <p:nvPr/>
        </p:nvPicPr>
        <p:blipFill>
          <a:blip r:embed="rId5">
            <a:alphaModFix/>
          </a:blip>
          <a:stretch>
            <a:fillRect/>
          </a:stretch>
        </p:blipFill>
        <p:spPr>
          <a:xfrm>
            <a:off x="7522672" y="4014975"/>
            <a:ext cx="615600" cy="615600"/>
          </a:xfrm>
          <a:prstGeom prst="rect">
            <a:avLst/>
          </a:prstGeom>
          <a:noFill/>
          <a:ln>
            <a:noFill/>
          </a:ln>
        </p:spPr>
      </p:pic>
      <p:sp>
        <p:nvSpPr>
          <p:cNvPr id="495" name="Google Shape;495;p50"/>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1"/>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Understanding the Game</a:t>
            </a:r>
            <a:endParaRPr/>
          </a:p>
        </p:txBody>
      </p:sp>
      <p:sp>
        <p:nvSpPr>
          <p:cNvPr id="501" name="Google Shape;501;p51"/>
          <p:cNvSpPr txBox="1"/>
          <p:nvPr/>
        </p:nvSpPr>
        <p:spPr>
          <a:xfrm>
            <a:off x="594305" y="1189870"/>
            <a:ext cx="7498200" cy="203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Fundamentally RINGwars is a game about exponential growth. If you can “snowball” faster than your opponent you will win the game.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 sz="1800">
                <a:solidFill>
                  <a:schemeClr val="dk1"/>
                </a:solidFill>
                <a:latin typeface="Calibri"/>
                <a:ea typeface="Calibri"/>
                <a:cs typeface="Calibri"/>
                <a:sym typeface="Calibri"/>
              </a:rPr>
              <a:t>Your growth rate depends both on the total number of Fernies you possess and on the number of nodes you control. This leads to a balancing act. You can rapidly spread out to </a:t>
            </a:r>
            <a:r>
              <a:rPr lang="en" sz="1800">
                <a:solidFill>
                  <a:schemeClr val="dk1"/>
                </a:solidFill>
                <a:latin typeface="Calibri"/>
                <a:ea typeface="Calibri"/>
                <a:cs typeface="Calibri"/>
                <a:sym typeface="Calibri"/>
              </a:rPr>
              <a:t>boost</a:t>
            </a:r>
            <a:r>
              <a:rPr lang="en" sz="1800">
                <a:solidFill>
                  <a:schemeClr val="dk1"/>
                </a:solidFill>
                <a:latin typeface="Calibri"/>
                <a:ea typeface="Calibri"/>
                <a:cs typeface="Calibri"/>
                <a:sym typeface="Calibri"/>
              </a:rPr>
              <a:t> your node ownership bonus, however this will leave your nodes weakly defended.  Or you can slowly expand, and miss out on the ownership bonus.</a:t>
            </a:r>
            <a:endParaRPr sz="1800">
              <a:solidFill>
                <a:schemeClr val="dk1"/>
              </a:solidFill>
              <a:latin typeface="Calibri"/>
              <a:ea typeface="Calibri"/>
              <a:cs typeface="Calibri"/>
              <a:sym typeface="Calibri"/>
            </a:endParaRPr>
          </a:p>
        </p:txBody>
      </p:sp>
      <p:pic>
        <p:nvPicPr>
          <p:cNvPr descr="slime_blue.png" id="502" name="Google Shape;502;p51"/>
          <p:cNvPicPr preferRelativeResize="0"/>
          <p:nvPr/>
        </p:nvPicPr>
        <p:blipFill rotWithShape="1">
          <a:blip r:embed="rId3">
            <a:alphaModFix/>
          </a:blip>
          <a:srcRect b="0" l="0" r="0" t="0"/>
          <a:stretch/>
        </p:blipFill>
        <p:spPr>
          <a:xfrm>
            <a:off x="5694130" y="3063670"/>
            <a:ext cx="2260976" cy="1695725"/>
          </a:xfrm>
          <a:prstGeom prst="rect">
            <a:avLst/>
          </a:prstGeom>
          <a:noFill/>
          <a:ln>
            <a:noFill/>
          </a:ln>
        </p:spPr>
      </p:pic>
      <p:pic>
        <p:nvPicPr>
          <p:cNvPr id="503" name="Google Shape;503;p51" title="crosseyedFace.gif"/>
          <p:cNvPicPr preferRelativeResize="0"/>
          <p:nvPr/>
        </p:nvPicPr>
        <p:blipFill>
          <a:blip r:embed="rId4">
            <a:alphaModFix/>
          </a:blip>
          <a:stretch>
            <a:fillRect/>
          </a:stretch>
        </p:blipFill>
        <p:spPr>
          <a:xfrm>
            <a:off x="6772413" y="3769454"/>
            <a:ext cx="691500" cy="691500"/>
          </a:xfrm>
          <a:prstGeom prst="rect">
            <a:avLst/>
          </a:prstGeom>
          <a:noFill/>
          <a:ln>
            <a:noFill/>
          </a:ln>
        </p:spPr>
      </p:pic>
      <p:pic>
        <p:nvPicPr>
          <p:cNvPr descr="slime_yellow.png" id="504" name="Google Shape;504;p51"/>
          <p:cNvPicPr preferRelativeResize="0"/>
          <p:nvPr/>
        </p:nvPicPr>
        <p:blipFill rotWithShape="1">
          <a:blip r:embed="rId5">
            <a:alphaModFix/>
          </a:blip>
          <a:srcRect b="0" l="0" r="0" t="0"/>
          <a:stretch/>
        </p:blipFill>
        <p:spPr>
          <a:xfrm>
            <a:off x="3336800" y="3138800"/>
            <a:ext cx="1848750" cy="1386550"/>
          </a:xfrm>
          <a:prstGeom prst="rect">
            <a:avLst/>
          </a:prstGeom>
          <a:noFill/>
          <a:ln>
            <a:noFill/>
          </a:ln>
        </p:spPr>
      </p:pic>
      <p:pic>
        <p:nvPicPr>
          <p:cNvPr descr="slime_red.png" id="505" name="Google Shape;505;p51"/>
          <p:cNvPicPr preferRelativeResize="0"/>
          <p:nvPr/>
        </p:nvPicPr>
        <p:blipFill rotWithShape="1">
          <a:blip r:embed="rId6">
            <a:alphaModFix/>
          </a:blip>
          <a:srcRect b="0" l="0" r="0" t="0"/>
          <a:stretch/>
        </p:blipFill>
        <p:spPr>
          <a:xfrm>
            <a:off x="856950" y="3210750"/>
            <a:ext cx="2157050" cy="1617800"/>
          </a:xfrm>
          <a:prstGeom prst="rect">
            <a:avLst/>
          </a:prstGeom>
          <a:noFill/>
          <a:ln>
            <a:noFill/>
          </a:ln>
        </p:spPr>
      </p:pic>
      <p:pic>
        <p:nvPicPr>
          <p:cNvPr id="506" name="Google Shape;506;p51" title="angryTongueFace.gif"/>
          <p:cNvPicPr preferRelativeResize="0"/>
          <p:nvPr/>
        </p:nvPicPr>
        <p:blipFill>
          <a:blip r:embed="rId7">
            <a:alphaModFix/>
          </a:blip>
          <a:stretch>
            <a:fillRect/>
          </a:stretch>
        </p:blipFill>
        <p:spPr>
          <a:xfrm>
            <a:off x="1214050" y="3769451"/>
            <a:ext cx="881300" cy="881300"/>
          </a:xfrm>
          <a:prstGeom prst="rect">
            <a:avLst/>
          </a:prstGeom>
          <a:noFill/>
          <a:ln>
            <a:noFill/>
          </a:ln>
        </p:spPr>
      </p:pic>
      <p:pic>
        <p:nvPicPr>
          <p:cNvPr id="507" name="Google Shape;507;p51" title="cartoonFace.gif"/>
          <p:cNvPicPr preferRelativeResize="0"/>
          <p:nvPr/>
        </p:nvPicPr>
        <p:blipFill>
          <a:blip r:embed="rId8">
            <a:alphaModFix/>
          </a:blip>
          <a:stretch>
            <a:fillRect/>
          </a:stretch>
        </p:blipFill>
        <p:spPr>
          <a:xfrm>
            <a:off x="4088125" y="3565775"/>
            <a:ext cx="691500" cy="691500"/>
          </a:xfrm>
          <a:prstGeom prst="rect">
            <a:avLst/>
          </a:prstGeom>
          <a:noFill/>
          <a:ln>
            <a:noFill/>
          </a:ln>
        </p:spPr>
      </p:pic>
      <p:sp>
        <p:nvSpPr>
          <p:cNvPr id="508" name="Google Shape;508;p51"/>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2"/>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CHEATING</a:t>
            </a:r>
            <a:endParaRPr/>
          </a:p>
        </p:txBody>
      </p:sp>
      <p:sp>
        <p:nvSpPr>
          <p:cNvPr id="514" name="Google Shape;514;p52"/>
          <p:cNvSpPr txBox="1"/>
          <p:nvPr/>
        </p:nvSpPr>
        <p:spPr>
          <a:xfrm>
            <a:off x="594305" y="1189870"/>
            <a:ext cx="74982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Your agent is only allowed to read and write its own files.  Reading your opponents state files or creating a fake move.txt for your opponent is CHEATING. This will not be tolerated and if you caught you will be treated with the same severity as if you had cheated on an exam.  DO NOT CHEAT. Your agent should only interact with files in its own state directory (./&lt;Name&gt;).</a:t>
            </a:r>
            <a:endParaRPr sz="1800">
              <a:solidFill>
                <a:schemeClr val="dk1"/>
              </a:solidFill>
              <a:latin typeface="Calibri"/>
              <a:ea typeface="Calibri"/>
              <a:cs typeface="Calibri"/>
              <a:sym typeface="Calibri"/>
            </a:endParaRPr>
          </a:p>
        </p:txBody>
      </p:sp>
      <p:pic>
        <p:nvPicPr>
          <p:cNvPr descr="slime_blue.png" id="515" name="Google Shape;515;p52"/>
          <p:cNvPicPr preferRelativeResize="0"/>
          <p:nvPr/>
        </p:nvPicPr>
        <p:blipFill rotWithShape="1">
          <a:blip r:embed="rId3">
            <a:alphaModFix/>
          </a:blip>
          <a:srcRect b="0" l="0" r="0" t="0"/>
          <a:stretch/>
        </p:blipFill>
        <p:spPr>
          <a:xfrm>
            <a:off x="5694130" y="3063670"/>
            <a:ext cx="2260976" cy="1695725"/>
          </a:xfrm>
          <a:prstGeom prst="rect">
            <a:avLst/>
          </a:prstGeom>
          <a:noFill/>
          <a:ln>
            <a:noFill/>
          </a:ln>
        </p:spPr>
      </p:pic>
      <p:pic>
        <p:nvPicPr>
          <p:cNvPr id="516" name="Google Shape;516;p52" title="crosseyedFace.gif"/>
          <p:cNvPicPr preferRelativeResize="0"/>
          <p:nvPr/>
        </p:nvPicPr>
        <p:blipFill>
          <a:blip r:embed="rId4">
            <a:alphaModFix/>
          </a:blip>
          <a:stretch>
            <a:fillRect/>
          </a:stretch>
        </p:blipFill>
        <p:spPr>
          <a:xfrm>
            <a:off x="6772413" y="3769454"/>
            <a:ext cx="691500" cy="691500"/>
          </a:xfrm>
          <a:prstGeom prst="rect">
            <a:avLst/>
          </a:prstGeom>
          <a:noFill/>
          <a:ln>
            <a:noFill/>
          </a:ln>
        </p:spPr>
      </p:pic>
      <p:pic>
        <p:nvPicPr>
          <p:cNvPr descr="slime_yellow.png" id="517" name="Google Shape;517;p52"/>
          <p:cNvPicPr preferRelativeResize="0"/>
          <p:nvPr/>
        </p:nvPicPr>
        <p:blipFill rotWithShape="1">
          <a:blip r:embed="rId5">
            <a:alphaModFix/>
          </a:blip>
          <a:srcRect b="0" l="0" r="0" t="0"/>
          <a:stretch/>
        </p:blipFill>
        <p:spPr>
          <a:xfrm>
            <a:off x="3336800" y="3138800"/>
            <a:ext cx="1848750" cy="1386550"/>
          </a:xfrm>
          <a:prstGeom prst="rect">
            <a:avLst/>
          </a:prstGeom>
          <a:noFill/>
          <a:ln>
            <a:noFill/>
          </a:ln>
        </p:spPr>
      </p:pic>
      <p:pic>
        <p:nvPicPr>
          <p:cNvPr descr="slime_red.png" id="518" name="Google Shape;518;p52"/>
          <p:cNvPicPr preferRelativeResize="0"/>
          <p:nvPr/>
        </p:nvPicPr>
        <p:blipFill rotWithShape="1">
          <a:blip r:embed="rId6">
            <a:alphaModFix/>
          </a:blip>
          <a:srcRect b="0" l="0" r="0" t="0"/>
          <a:stretch/>
        </p:blipFill>
        <p:spPr>
          <a:xfrm>
            <a:off x="856950" y="3210750"/>
            <a:ext cx="2157050" cy="1617800"/>
          </a:xfrm>
          <a:prstGeom prst="rect">
            <a:avLst/>
          </a:prstGeom>
          <a:noFill/>
          <a:ln>
            <a:noFill/>
          </a:ln>
        </p:spPr>
      </p:pic>
      <p:pic>
        <p:nvPicPr>
          <p:cNvPr id="519" name="Google Shape;519;p52" title="angryTongueFace.gif"/>
          <p:cNvPicPr preferRelativeResize="0"/>
          <p:nvPr/>
        </p:nvPicPr>
        <p:blipFill>
          <a:blip r:embed="rId7">
            <a:alphaModFix/>
          </a:blip>
          <a:stretch>
            <a:fillRect/>
          </a:stretch>
        </p:blipFill>
        <p:spPr>
          <a:xfrm>
            <a:off x="1214050" y="3769451"/>
            <a:ext cx="881300" cy="881300"/>
          </a:xfrm>
          <a:prstGeom prst="rect">
            <a:avLst/>
          </a:prstGeom>
          <a:noFill/>
          <a:ln>
            <a:noFill/>
          </a:ln>
        </p:spPr>
      </p:pic>
      <p:pic>
        <p:nvPicPr>
          <p:cNvPr id="520" name="Google Shape;520;p52" title="cartoonFace.gif"/>
          <p:cNvPicPr preferRelativeResize="0"/>
          <p:nvPr/>
        </p:nvPicPr>
        <p:blipFill>
          <a:blip r:embed="rId8">
            <a:alphaModFix/>
          </a:blip>
          <a:stretch>
            <a:fillRect/>
          </a:stretch>
        </p:blipFill>
        <p:spPr>
          <a:xfrm>
            <a:off x="4088125" y="3565775"/>
            <a:ext cx="691500" cy="691500"/>
          </a:xfrm>
          <a:prstGeom prst="rect">
            <a:avLst/>
          </a:prstGeom>
          <a:noFill/>
          <a:ln>
            <a:noFill/>
          </a:ln>
        </p:spPr>
      </p:pic>
      <p:sp>
        <p:nvSpPr>
          <p:cNvPr id="521" name="Google Shape;521;p52"/>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3"/>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Using the RINGwars GUI</a:t>
            </a:r>
            <a:endParaRPr/>
          </a:p>
        </p:txBody>
      </p:sp>
      <p:sp>
        <p:nvSpPr>
          <p:cNvPr id="527" name="Google Shape;527;p53"/>
          <p:cNvSpPr txBox="1"/>
          <p:nvPr/>
        </p:nvSpPr>
        <p:spPr>
          <a:xfrm>
            <a:off x="640077" y="960125"/>
            <a:ext cx="50178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The following slides describe how to use the RINGwars app to test your agent.</a:t>
            </a:r>
            <a:endParaRPr sz="1800">
              <a:solidFill>
                <a:schemeClr val="dk1"/>
              </a:solidFill>
              <a:latin typeface="Calibri"/>
              <a:ea typeface="Calibri"/>
              <a:cs typeface="Calibri"/>
              <a:sym typeface="Calibri"/>
            </a:endParaRPr>
          </a:p>
        </p:txBody>
      </p:sp>
      <p:pic>
        <p:nvPicPr>
          <p:cNvPr descr="slime_red.png" id="528" name="Google Shape;528;p53"/>
          <p:cNvPicPr preferRelativeResize="0"/>
          <p:nvPr/>
        </p:nvPicPr>
        <p:blipFill rotWithShape="1">
          <a:blip r:embed="rId3">
            <a:alphaModFix/>
          </a:blip>
          <a:srcRect b="0" l="0" r="0" t="0"/>
          <a:stretch/>
        </p:blipFill>
        <p:spPr>
          <a:xfrm>
            <a:off x="5886647" y="274326"/>
            <a:ext cx="1835201" cy="1376391"/>
          </a:xfrm>
          <a:prstGeom prst="rect">
            <a:avLst/>
          </a:prstGeom>
          <a:noFill/>
          <a:ln>
            <a:noFill/>
          </a:ln>
        </p:spPr>
      </p:pic>
      <p:pic>
        <p:nvPicPr>
          <p:cNvPr id="529" name="Google Shape;529;p53" title="cartoonFace.gif"/>
          <p:cNvPicPr preferRelativeResize="0"/>
          <p:nvPr/>
        </p:nvPicPr>
        <p:blipFill>
          <a:blip r:embed="rId4">
            <a:alphaModFix/>
          </a:blip>
          <a:stretch>
            <a:fillRect/>
          </a:stretch>
        </p:blipFill>
        <p:spPr>
          <a:xfrm>
            <a:off x="6679625" y="539822"/>
            <a:ext cx="709200" cy="709200"/>
          </a:xfrm>
          <a:prstGeom prst="rect">
            <a:avLst/>
          </a:prstGeom>
          <a:noFill/>
          <a:ln>
            <a:noFill/>
          </a:ln>
        </p:spPr>
      </p:pic>
      <p:pic>
        <p:nvPicPr>
          <p:cNvPr id="530" name="Google Shape;530;p53" title="launchscreen.png"/>
          <p:cNvPicPr preferRelativeResize="0"/>
          <p:nvPr/>
        </p:nvPicPr>
        <p:blipFill>
          <a:blip r:embed="rId5">
            <a:alphaModFix/>
          </a:blip>
          <a:stretch>
            <a:fillRect/>
          </a:stretch>
        </p:blipFill>
        <p:spPr>
          <a:xfrm>
            <a:off x="640075" y="1676825"/>
            <a:ext cx="4462544" cy="3232075"/>
          </a:xfrm>
          <a:prstGeom prst="rect">
            <a:avLst/>
          </a:prstGeom>
          <a:noFill/>
          <a:ln cap="flat" cmpd="sng" w="9525">
            <a:solidFill>
              <a:schemeClr val="dk1"/>
            </a:solidFill>
            <a:prstDash val="solid"/>
            <a:round/>
            <a:headEnd len="sm" w="sm" type="none"/>
            <a:tailEnd len="sm" w="sm" type="none"/>
          </a:ln>
        </p:spPr>
      </p:pic>
      <p:sp>
        <p:nvSpPr>
          <p:cNvPr id="531" name="Google Shape;531;p53"/>
          <p:cNvSpPr txBox="1"/>
          <p:nvPr/>
        </p:nvSpPr>
        <p:spPr>
          <a:xfrm>
            <a:off x="5287625" y="1845100"/>
            <a:ext cx="34932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Calibri"/>
                <a:ea typeface="Calibri"/>
                <a:cs typeface="Calibri"/>
                <a:sym typeface="Calibri"/>
              </a:rPr>
              <a:t>The launch screen of the RINGwars GUI. Note the three tabs: welcome, settings, and display.</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 sz="1600">
                <a:solidFill>
                  <a:schemeClr val="dk1"/>
                </a:solidFill>
                <a:latin typeface="Calibri"/>
                <a:ea typeface="Calibri"/>
                <a:cs typeface="Calibri"/>
                <a:sym typeface="Calibri"/>
              </a:rPr>
              <a:t>Settings allows you to load agent files and adjust the game settings.</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 sz="1600">
                <a:solidFill>
                  <a:schemeClr val="dk1"/>
                </a:solidFill>
                <a:latin typeface="Calibri"/>
                <a:ea typeface="Calibri"/>
                <a:cs typeface="Calibri"/>
                <a:sym typeface="Calibri"/>
              </a:rPr>
              <a:t>Display gives you a visualization of the RINGwars game with the agents you have loaded in.</a:t>
            </a:r>
            <a:endParaRPr sz="1600">
              <a:solidFill>
                <a:schemeClr val="dk1"/>
              </a:solidFill>
              <a:latin typeface="Calibri"/>
              <a:ea typeface="Calibri"/>
              <a:cs typeface="Calibri"/>
              <a:sym typeface="Calibri"/>
            </a:endParaRPr>
          </a:p>
        </p:txBody>
      </p:sp>
      <p:pic>
        <p:nvPicPr>
          <p:cNvPr descr="slime_yellow.png" id="532" name="Google Shape;532;p53"/>
          <p:cNvPicPr preferRelativeResize="0"/>
          <p:nvPr/>
        </p:nvPicPr>
        <p:blipFill rotWithShape="1">
          <a:blip r:embed="rId6">
            <a:alphaModFix/>
          </a:blip>
          <a:srcRect b="0" l="0" r="0" t="0"/>
          <a:stretch/>
        </p:blipFill>
        <p:spPr>
          <a:xfrm>
            <a:off x="6811984" y="3666799"/>
            <a:ext cx="1835190" cy="1376400"/>
          </a:xfrm>
          <a:prstGeom prst="rect">
            <a:avLst/>
          </a:prstGeom>
          <a:noFill/>
          <a:ln>
            <a:noFill/>
          </a:ln>
        </p:spPr>
      </p:pic>
      <p:pic>
        <p:nvPicPr>
          <p:cNvPr id="533" name="Google Shape;533;p53" title="mildFace.gif"/>
          <p:cNvPicPr preferRelativeResize="0"/>
          <p:nvPr/>
        </p:nvPicPr>
        <p:blipFill>
          <a:blip r:embed="rId7">
            <a:alphaModFix/>
          </a:blip>
          <a:stretch>
            <a:fillRect/>
          </a:stretch>
        </p:blipFill>
        <p:spPr>
          <a:xfrm>
            <a:off x="7124475" y="4047204"/>
            <a:ext cx="615600" cy="615600"/>
          </a:xfrm>
          <a:prstGeom prst="rect">
            <a:avLst/>
          </a:prstGeom>
          <a:noFill/>
          <a:ln>
            <a:noFill/>
          </a:ln>
        </p:spPr>
      </p:pic>
      <p:sp>
        <p:nvSpPr>
          <p:cNvPr id="534" name="Google Shape;534;p53"/>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4"/>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Settings</a:t>
            </a:r>
            <a:endParaRPr/>
          </a:p>
        </p:txBody>
      </p:sp>
      <p:sp>
        <p:nvSpPr>
          <p:cNvPr id="540" name="Google Shape;540;p54"/>
          <p:cNvSpPr txBox="1"/>
          <p:nvPr/>
        </p:nvSpPr>
        <p:spPr>
          <a:xfrm>
            <a:off x="1686652" y="4201950"/>
            <a:ext cx="5017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The settings tab</a:t>
            </a:r>
            <a:endParaRPr sz="1800">
              <a:solidFill>
                <a:schemeClr val="dk1"/>
              </a:solidFill>
              <a:latin typeface="Calibri"/>
              <a:ea typeface="Calibri"/>
              <a:cs typeface="Calibri"/>
              <a:sym typeface="Calibri"/>
            </a:endParaRPr>
          </a:p>
        </p:txBody>
      </p:sp>
      <p:sp>
        <p:nvSpPr>
          <p:cNvPr id="541" name="Google Shape;541;p54"/>
          <p:cNvSpPr txBox="1"/>
          <p:nvPr/>
        </p:nvSpPr>
        <p:spPr>
          <a:xfrm>
            <a:off x="5108975" y="324450"/>
            <a:ext cx="39054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The settings tab allows you to adjust game settings.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Change Ring Size: Adjusts the number of nodes of the game world.</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Change Fernie Growth Percent Per Turn: Controls the raw growth rate of Fernies.</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In this case you automatically </a:t>
            </a:r>
            <a:r>
              <a:rPr lang="en">
                <a:solidFill>
                  <a:schemeClr val="dk1"/>
                </a:solidFill>
                <a:latin typeface="Calibri"/>
                <a:ea typeface="Calibri"/>
                <a:cs typeface="Calibri"/>
                <a:sym typeface="Calibri"/>
              </a:rPr>
              <a:t>receive</a:t>
            </a:r>
            <a:r>
              <a:rPr lang="en">
                <a:solidFill>
                  <a:schemeClr val="dk1"/>
                </a:solidFill>
                <a:latin typeface="Calibri"/>
                <a:ea typeface="Calibri"/>
                <a:cs typeface="Calibri"/>
                <a:sym typeface="Calibri"/>
              </a:rPr>
              <a:t> 10% of your total Fernies as new Fernies at the start of each turn</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Change Starting Fernies: Sets the number of Fernies you start with</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Change Max Fernies Per Node: Sets the Maximum Fernie Count per node</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Change Visibility Range: Sets the range of nodes around nodes you control which your agent can observe and place Fernies on</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Change Node Ownership Bonus: Controls the ownership growth bonus you </a:t>
            </a:r>
            <a:r>
              <a:rPr lang="en">
                <a:solidFill>
                  <a:schemeClr val="dk1"/>
                </a:solidFill>
                <a:latin typeface="Calibri"/>
                <a:ea typeface="Calibri"/>
                <a:cs typeface="Calibri"/>
                <a:sym typeface="Calibri"/>
              </a:rPr>
              <a:t>receive</a:t>
            </a:r>
            <a:r>
              <a:rPr lang="en">
                <a:solidFill>
                  <a:schemeClr val="dk1"/>
                </a:solidFill>
                <a:latin typeface="Calibri"/>
                <a:ea typeface="Calibri"/>
                <a:cs typeface="Calibri"/>
                <a:sym typeface="Calibri"/>
              </a:rPr>
              <a:t> for each additional node you control</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In this case you </a:t>
            </a:r>
            <a:r>
              <a:rPr lang="en">
                <a:solidFill>
                  <a:schemeClr val="dk1"/>
                </a:solidFill>
                <a:latin typeface="Calibri"/>
                <a:ea typeface="Calibri"/>
                <a:cs typeface="Calibri"/>
                <a:sym typeface="Calibri"/>
              </a:rPr>
              <a:t>receive</a:t>
            </a:r>
            <a:r>
              <a:rPr lang="en">
                <a:solidFill>
                  <a:schemeClr val="dk1"/>
                </a:solidFill>
                <a:latin typeface="Calibri"/>
                <a:ea typeface="Calibri"/>
                <a:cs typeface="Calibri"/>
                <a:sym typeface="Calibri"/>
              </a:rPr>
              <a:t> a growth bonus of 10%</a:t>
            </a:r>
            <a:endParaRPr>
              <a:solidFill>
                <a:schemeClr val="dk1"/>
              </a:solidFill>
              <a:latin typeface="Calibri"/>
              <a:ea typeface="Calibri"/>
              <a:cs typeface="Calibri"/>
              <a:sym typeface="Calibri"/>
            </a:endParaRPr>
          </a:p>
        </p:txBody>
      </p:sp>
      <p:pic>
        <p:nvPicPr>
          <p:cNvPr id="542" name="Google Shape;542;p54" title="settings.png"/>
          <p:cNvPicPr preferRelativeResize="0"/>
          <p:nvPr/>
        </p:nvPicPr>
        <p:blipFill>
          <a:blip r:embed="rId3">
            <a:alphaModFix/>
          </a:blip>
          <a:stretch>
            <a:fillRect/>
          </a:stretch>
        </p:blipFill>
        <p:spPr>
          <a:xfrm>
            <a:off x="548050" y="942294"/>
            <a:ext cx="4419600" cy="3207281"/>
          </a:xfrm>
          <a:prstGeom prst="rect">
            <a:avLst/>
          </a:prstGeom>
          <a:noFill/>
          <a:ln cap="flat" cmpd="sng" w="9525">
            <a:solidFill>
              <a:schemeClr val="dk1"/>
            </a:solidFill>
            <a:prstDash val="solid"/>
            <a:round/>
            <a:headEnd len="sm" w="sm" type="none"/>
            <a:tailEnd len="sm" w="sm" type="none"/>
          </a:ln>
        </p:spPr>
      </p:pic>
      <p:sp>
        <p:nvSpPr>
          <p:cNvPr id="543" name="Google Shape;543;p54"/>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5"/>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Settings</a:t>
            </a:r>
            <a:endParaRPr/>
          </a:p>
        </p:txBody>
      </p:sp>
      <p:sp>
        <p:nvSpPr>
          <p:cNvPr id="549" name="Google Shape;549;p55"/>
          <p:cNvSpPr txBox="1"/>
          <p:nvPr/>
        </p:nvSpPr>
        <p:spPr>
          <a:xfrm>
            <a:off x="525227" y="4172550"/>
            <a:ext cx="50178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Clicking the Add Agent button causes the add agent popup to appear.</a:t>
            </a:r>
            <a:endParaRPr sz="1800">
              <a:solidFill>
                <a:schemeClr val="dk1"/>
              </a:solidFill>
              <a:latin typeface="Calibri"/>
              <a:ea typeface="Calibri"/>
              <a:cs typeface="Calibri"/>
              <a:sym typeface="Calibri"/>
            </a:endParaRPr>
          </a:p>
        </p:txBody>
      </p:sp>
      <p:sp>
        <p:nvSpPr>
          <p:cNvPr id="550" name="Google Shape;550;p55"/>
          <p:cNvSpPr txBox="1"/>
          <p:nvPr/>
        </p:nvSpPr>
        <p:spPr>
          <a:xfrm>
            <a:off x="4139000" y="1396525"/>
            <a:ext cx="39054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This popup was already explained in </a:t>
            </a:r>
            <a:r>
              <a:rPr lang="en">
                <a:solidFill>
                  <a:schemeClr val="dk1"/>
                </a:solidFill>
                <a:latin typeface="Calibri"/>
                <a:ea typeface="Calibri"/>
                <a:cs typeface="Calibri"/>
                <a:sym typeface="Calibri"/>
              </a:rPr>
              <a:t>previous slides.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Remember the Name field must be unique for each added agent but multiple agents can reference the same class file.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If running a jar file the Language call must be</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“java -jar”</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Names must be at least 2 characters long.</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Names such as “src” and “saves” should be avoided as they may interfere with app functions.</a:t>
            </a:r>
            <a:endParaRPr>
              <a:solidFill>
                <a:schemeClr val="dk1"/>
              </a:solidFill>
              <a:latin typeface="Calibri"/>
              <a:ea typeface="Calibri"/>
              <a:cs typeface="Calibri"/>
              <a:sym typeface="Calibri"/>
            </a:endParaRPr>
          </a:p>
        </p:txBody>
      </p:sp>
      <p:pic>
        <p:nvPicPr>
          <p:cNvPr id="551" name="Google Shape;551;p55" title="add_agent_popup.png"/>
          <p:cNvPicPr preferRelativeResize="0"/>
          <p:nvPr/>
        </p:nvPicPr>
        <p:blipFill>
          <a:blip r:embed="rId3">
            <a:alphaModFix/>
          </a:blip>
          <a:stretch>
            <a:fillRect/>
          </a:stretch>
        </p:blipFill>
        <p:spPr>
          <a:xfrm>
            <a:off x="1160700" y="948426"/>
            <a:ext cx="2601750" cy="3165625"/>
          </a:xfrm>
          <a:prstGeom prst="rect">
            <a:avLst/>
          </a:prstGeom>
          <a:noFill/>
          <a:ln cap="flat" cmpd="sng" w="9525">
            <a:solidFill>
              <a:schemeClr val="dk1"/>
            </a:solidFill>
            <a:prstDash val="solid"/>
            <a:round/>
            <a:headEnd len="sm" w="sm" type="none"/>
            <a:tailEnd len="sm" w="sm" type="none"/>
          </a:ln>
        </p:spPr>
      </p:pic>
      <p:pic>
        <p:nvPicPr>
          <p:cNvPr descr="slime_blue.png" id="552" name="Google Shape;552;p55"/>
          <p:cNvPicPr preferRelativeResize="0"/>
          <p:nvPr/>
        </p:nvPicPr>
        <p:blipFill rotWithShape="1">
          <a:blip r:embed="rId4">
            <a:alphaModFix/>
          </a:blip>
          <a:srcRect b="0" l="0" r="0" t="0"/>
          <a:stretch/>
        </p:blipFill>
        <p:spPr>
          <a:xfrm>
            <a:off x="6272825" y="3253600"/>
            <a:ext cx="2383450" cy="1787575"/>
          </a:xfrm>
          <a:prstGeom prst="rect">
            <a:avLst/>
          </a:prstGeom>
          <a:noFill/>
          <a:ln>
            <a:noFill/>
          </a:ln>
        </p:spPr>
      </p:pic>
      <p:pic>
        <p:nvPicPr>
          <p:cNvPr id="553" name="Google Shape;553;p55" title="angryTongueFace.gif"/>
          <p:cNvPicPr preferRelativeResize="0"/>
          <p:nvPr/>
        </p:nvPicPr>
        <p:blipFill>
          <a:blip r:embed="rId5">
            <a:alphaModFix/>
          </a:blip>
          <a:stretch>
            <a:fillRect/>
          </a:stretch>
        </p:blipFill>
        <p:spPr>
          <a:xfrm>
            <a:off x="6699500" y="3900500"/>
            <a:ext cx="866775" cy="866775"/>
          </a:xfrm>
          <a:prstGeom prst="rect">
            <a:avLst/>
          </a:prstGeom>
          <a:noFill/>
          <a:ln>
            <a:noFill/>
          </a:ln>
        </p:spPr>
      </p:pic>
      <p:pic>
        <p:nvPicPr>
          <p:cNvPr descr="slime_yellow.png" id="554" name="Google Shape;554;p55"/>
          <p:cNvPicPr preferRelativeResize="0"/>
          <p:nvPr/>
        </p:nvPicPr>
        <p:blipFill rotWithShape="1">
          <a:blip r:embed="rId6">
            <a:alphaModFix/>
          </a:blip>
          <a:srcRect b="0" l="0" r="0" t="0"/>
          <a:stretch/>
        </p:blipFill>
        <p:spPr>
          <a:xfrm>
            <a:off x="6699500" y="8338"/>
            <a:ext cx="1530101" cy="1147575"/>
          </a:xfrm>
          <a:prstGeom prst="rect">
            <a:avLst/>
          </a:prstGeom>
          <a:noFill/>
          <a:ln>
            <a:noFill/>
          </a:ln>
        </p:spPr>
      </p:pic>
      <p:pic>
        <p:nvPicPr>
          <p:cNvPr id="555" name="Google Shape;555;p55" title="cartoonFace.gif"/>
          <p:cNvPicPr preferRelativeResize="0"/>
          <p:nvPr/>
        </p:nvPicPr>
        <p:blipFill>
          <a:blip r:embed="rId7">
            <a:alphaModFix/>
          </a:blip>
          <a:stretch>
            <a:fillRect/>
          </a:stretch>
        </p:blipFill>
        <p:spPr>
          <a:xfrm>
            <a:off x="7333466" y="331414"/>
            <a:ext cx="691000" cy="691000"/>
          </a:xfrm>
          <a:prstGeom prst="rect">
            <a:avLst/>
          </a:prstGeom>
          <a:noFill/>
          <a:ln>
            <a:noFill/>
          </a:ln>
        </p:spPr>
      </p:pic>
      <p:pic>
        <p:nvPicPr>
          <p:cNvPr descr="slime_red.png" id="556" name="Google Shape;556;p55"/>
          <p:cNvPicPr preferRelativeResize="0"/>
          <p:nvPr/>
        </p:nvPicPr>
        <p:blipFill rotWithShape="1">
          <a:blip r:embed="rId8">
            <a:alphaModFix/>
          </a:blip>
          <a:srcRect b="0" l="0" r="0" t="0"/>
          <a:stretch/>
        </p:blipFill>
        <p:spPr>
          <a:xfrm>
            <a:off x="4393075" y="0"/>
            <a:ext cx="1862017" cy="1396524"/>
          </a:xfrm>
          <a:prstGeom prst="rect">
            <a:avLst/>
          </a:prstGeom>
          <a:noFill/>
          <a:ln>
            <a:noFill/>
          </a:ln>
        </p:spPr>
      </p:pic>
      <p:pic>
        <p:nvPicPr>
          <p:cNvPr id="557" name="Google Shape;557;p55" title="crosseyedFace.gif"/>
          <p:cNvPicPr preferRelativeResize="0"/>
          <p:nvPr/>
        </p:nvPicPr>
        <p:blipFill>
          <a:blip r:embed="rId9">
            <a:alphaModFix/>
          </a:blip>
          <a:stretch>
            <a:fillRect/>
          </a:stretch>
        </p:blipFill>
        <p:spPr>
          <a:xfrm>
            <a:off x="5159433" y="425807"/>
            <a:ext cx="726897" cy="726960"/>
          </a:xfrm>
          <a:prstGeom prst="rect">
            <a:avLst/>
          </a:prstGeom>
          <a:noFill/>
          <a:ln>
            <a:noFill/>
          </a:ln>
        </p:spPr>
      </p:pic>
      <p:sp>
        <p:nvSpPr>
          <p:cNvPr id="558" name="Google Shape;558;p55"/>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pic>
        <p:nvPicPr>
          <p:cNvPr id="559" name="Google Shape;559;p55" title="jarjar.png"/>
          <p:cNvPicPr preferRelativeResize="0"/>
          <p:nvPr/>
        </p:nvPicPr>
        <p:blipFill>
          <a:blip r:embed="rId10">
            <a:alphaModFix/>
          </a:blip>
          <a:stretch>
            <a:fillRect/>
          </a:stretch>
        </p:blipFill>
        <p:spPr>
          <a:xfrm>
            <a:off x="1160700" y="948425"/>
            <a:ext cx="2601749" cy="3168443"/>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6"/>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Settings</a:t>
            </a:r>
            <a:endParaRPr/>
          </a:p>
        </p:txBody>
      </p:sp>
      <p:sp>
        <p:nvSpPr>
          <p:cNvPr id="565" name="Google Shape;565;p56"/>
          <p:cNvSpPr txBox="1"/>
          <p:nvPr/>
        </p:nvSpPr>
        <p:spPr>
          <a:xfrm>
            <a:off x="1686652" y="4201950"/>
            <a:ext cx="5017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The settings tab</a:t>
            </a:r>
            <a:endParaRPr sz="1800">
              <a:solidFill>
                <a:schemeClr val="dk1"/>
              </a:solidFill>
              <a:latin typeface="Calibri"/>
              <a:ea typeface="Calibri"/>
              <a:cs typeface="Calibri"/>
              <a:sym typeface="Calibri"/>
            </a:endParaRPr>
          </a:p>
        </p:txBody>
      </p:sp>
      <p:sp>
        <p:nvSpPr>
          <p:cNvPr id="566" name="Google Shape;566;p56"/>
          <p:cNvSpPr txBox="1"/>
          <p:nvPr/>
        </p:nvSpPr>
        <p:spPr>
          <a:xfrm>
            <a:off x="5070675" y="1042325"/>
            <a:ext cx="39054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Calibri"/>
                <a:ea typeface="Calibri"/>
                <a:cs typeface="Calibri"/>
                <a:sym typeface="Calibri"/>
              </a:rPr>
              <a:t>Once Agents are added they will appear at the top of the screen.  </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 sz="1600">
                <a:solidFill>
                  <a:schemeClr val="dk1"/>
                </a:solidFill>
                <a:latin typeface="Calibri"/>
                <a:ea typeface="Calibri"/>
                <a:cs typeface="Calibri"/>
                <a:sym typeface="Calibri"/>
              </a:rPr>
              <a:t>DO NOT add more than 2 agents at a single time.</a:t>
            </a:r>
            <a:endParaRPr sz="1600">
              <a:solidFill>
                <a:schemeClr val="dk1"/>
              </a:solidFill>
              <a:latin typeface="Calibri"/>
              <a:ea typeface="Calibri"/>
              <a:cs typeface="Calibri"/>
              <a:sym typeface="Calibri"/>
            </a:endParaRPr>
          </a:p>
        </p:txBody>
      </p:sp>
      <p:pic>
        <p:nvPicPr>
          <p:cNvPr id="567" name="Google Shape;567;p56" title="twoagents.png"/>
          <p:cNvPicPr preferRelativeResize="0"/>
          <p:nvPr/>
        </p:nvPicPr>
        <p:blipFill>
          <a:blip r:embed="rId3">
            <a:alphaModFix/>
          </a:blip>
          <a:stretch>
            <a:fillRect/>
          </a:stretch>
        </p:blipFill>
        <p:spPr>
          <a:xfrm>
            <a:off x="457200" y="1042320"/>
            <a:ext cx="4156410" cy="3007230"/>
          </a:xfrm>
          <a:prstGeom prst="rect">
            <a:avLst/>
          </a:prstGeom>
          <a:noFill/>
          <a:ln cap="flat" cmpd="sng" w="9525">
            <a:solidFill>
              <a:schemeClr val="dk1"/>
            </a:solidFill>
            <a:prstDash val="solid"/>
            <a:round/>
            <a:headEnd len="sm" w="sm" type="none"/>
            <a:tailEnd len="sm" w="sm" type="none"/>
          </a:ln>
        </p:spPr>
      </p:pic>
      <p:pic>
        <p:nvPicPr>
          <p:cNvPr descr="slime_yellow.png" id="568" name="Google Shape;568;p56"/>
          <p:cNvPicPr preferRelativeResize="0"/>
          <p:nvPr/>
        </p:nvPicPr>
        <p:blipFill rotWithShape="1">
          <a:blip r:embed="rId4">
            <a:alphaModFix/>
          </a:blip>
          <a:srcRect b="0" l="0" r="0" t="0"/>
          <a:stretch/>
        </p:blipFill>
        <p:spPr>
          <a:xfrm>
            <a:off x="5456551" y="2364425"/>
            <a:ext cx="3251605" cy="2438726"/>
          </a:xfrm>
          <a:prstGeom prst="rect">
            <a:avLst/>
          </a:prstGeom>
          <a:noFill/>
          <a:ln>
            <a:noFill/>
          </a:ln>
        </p:spPr>
      </p:pic>
      <p:pic>
        <p:nvPicPr>
          <p:cNvPr id="569" name="Google Shape;569;p56" title="dullFace.gif"/>
          <p:cNvPicPr preferRelativeResize="0"/>
          <p:nvPr/>
        </p:nvPicPr>
        <p:blipFill>
          <a:blip r:embed="rId5">
            <a:alphaModFix/>
          </a:blip>
          <a:stretch>
            <a:fillRect/>
          </a:stretch>
        </p:blipFill>
        <p:spPr>
          <a:xfrm>
            <a:off x="6245385" y="3323297"/>
            <a:ext cx="1247950" cy="1247950"/>
          </a:xfrm>
          <a:prstGeom prst="rect">
            <a:avLst/>
          </a:prstGeom>
          <a:noFill/>
          <a:ln>
            <a:noFill/>
          </a:ln>
        </p:spPr>
      </p:pic>
      <p:sp>
        <p:nvSpPr>
          <p:cNvPr id="570" name="Google Shape;570;p56"/>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7"/>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Settings</a:t>
            </a:r>
            <a:endParaRPr/>
          </a:p>
        </p:txBody>
      </p:sp>
      <p:sp>
        <p:nvSpPr>
          <p:cNvPr id="576" name="Google Shape;576;p57"/>
          <p:cNvSpPr txBox="1"/>
          <p:nvPr/>
        </p:nvSpPr>
        <p:spPr>
          <a:xfrm>
            <a:off x="1686652" y="4201950"/>
            <a:ext cx="5017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The settings tab</a:t>
            </a:r>
            <a:endParaRPr sz="1800">
              <a:solidFill>
                <a:schemeClr val="dk1"/>
              </a:solidFill>
              <a:latin typeface="Calibri"/>
              <a:ea typeface="Calibri"/>
              <a:cs typeface="Calibri"/>
              <a:sym typeface="Calibri"/>
            </a:endParaRPr>
          </a:p>
        </p:txBody>
      </p:sp>
      <p:sp>
        <p:nvSpPr>
          <p:cNvPr id="577" name="Google Shape;577;p57"/>
          <p:cNvSpPr txBox="1"/>
          <p:nvPr/>
        </p:nvSpPr>
        <p:spPr>
          <a:xfrm>
            <a:off x="5032400" y="3002850"/>
            <a:ext cx="3905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If you click on an agent you will see details about that agent such as it’s name (the folder location where its state files are stored) and have the option to delete that agent.</a:t>
            </a:r>
            <a:endParaRPr>
              <a:solidFill>
                <a:schemeClr val="dk1"/>
              </a:solidFill>
              <a:latin typeface="Calibri"/>
              <a:ea typeface="Calibri"/>
              <a:cs typeface="Calibri"/>
              <a:sym typeface="Calibri"/>
            </a:endParaRPr>
          </a:p>
        </p:txBody>
      </p:sp>
      <p:pic>
        <p:nvPicPr>
          <p:cNvPr id="578" name="Google Shape;578;p57" title="delete.png"/>
          <p:cNvPicPr preferRelativeResize="0"/>
          <p:nvPr/>
        </p:nvPicPr>
        <p:blipFill>
          <a:blip r:embed="rId3">
            <a:alphaModFix/>
          </a:blip>
          <a:stretch>
            <a:fillRect/>
          </a:stretch>
        </p:blipFill>
        <p:spPr>
          <a:xfrm>
            <a:off x="457200" y="1042320"/>
            <a:ext cx="4151351" cy="3007229"/>
          </a:xfrm>
          <a:prstGeom prst="rect">
            <a:avLst/>
          </a:prstGeom>
          <a:noFill/>
          <a:ln cap="flat" cmpd="sng" w="9525">
            <a:solidFill>
              <a:schemeClr val="dk1"/>
            </a:solidFill>
            <a:prstDash val="solid"/>
            <a:round/>
            <a:headEnd len="sm" w="sm" type="none"/>
            <a:tailEnd len="sm" w="sm" type="none"/>
          </a:ln>
        </p:spPr>
      </p:pic>
      <p:pic>
        <p:nvPicPr>
          <p:cNvPr descr="slime_red.png" id="579" name="Google Shape;579;p57"/>
          <p:cNvPicPr preferRelativeResize="0"/>
          <p:nvPr/>
        </p:nvPicPr>
        <p:blipFill rotWithShape="1">
          <a:blip r:embed="rId4">
            <a:alphaModFix/>
          </a:blip>
          <a:srcRect b="0" l="0" r="0" t="0"/>
          <a:stretch/>
        </p:blipFill>
        <p:spPr>
          <a:xfrm>
            <a:off x="5606501" y="160073"/>
            <a:ext cx="3331301" cy="2498450"/>
          </a:xfrm>
          <a:prstGeom prst="rect">
            <a:avLst/>
          </a:prstGeom>
          <a:noFill/>
          <a:ln>
            <a:noFill/>
          </a:ln>
        </p:spPr>
      </p:pic>
      <p:pic>
        <p:nvPicPr>
          <p:cNvPr id="580" name="Google Shape;580;p57" title="angryEyebrowFace.gif"/>
          <p:cNvPicPr preferRelativeResize="0"/>
          <p:nvPr/>
        </p:nvPicPr>
        <p:blipFill>
          <a:blip r:embed="rId5">
            <a:alphaModFix/>
          </a:blip>
          <a:stretch>
            <a:fillRect/>
          </a:stretch>
        </p:blipFill>
        <p:spPr>
          <a:xfrm>
            <a:off x="6397300" y="1247400"/>
            <a:ext cx="983425" cy="983425"/>
          </a:xfrm>
          <a:prstGeom prst="rect">
            <a:avLst/>
          </a:prstGeom>
          <a:noFill/>
          <a:ln>
            <a:noFill/>
          </a:ln>
        </p:spPr>
      </p:pic>
      <p:sp>
        <p:nvSpPr>
          <p:cNvPr id="581" name="Google Shape;581;p57"/>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8"/>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Settings</a:t>
            </a:r>
            <a:endParaRPr/>
          </a:p>
        </p:txBody>
      </p:sp>
      <p:sp>
        <p:nvSpPr>
          <p:cNvPr id="587" name="Google Shape;587;p58"/>
          <p:cNvSpPr txBox="1"/>
          <p:nvPr/>
        </p:nvSpPr>
        <p:spPr>
          <a:xfrm>
            <a:off x="1686652" y="4201950"/>
            <a:ext cx="5017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The settings tab</a:t>
            </a:r>
            <a:endParaRPr sz="1800">
              <a:solidFill>
                <a:schemeClr val="dk1"/>
              </a:solidFill>
              <a:latin typeface="Calibri"/>
              <a:ea typeface="Calibri"/>
              <a:cs typeface="Calibri"/>
              <a:sym typeface="Calibri"/>
            </a:endParaRPr>
          </a:p>
        </p:txBody>
      </p:sp>
      <p:sp>
        <p:nvSpPr>
          <p:cNvPr id="588" name="Google Shape;588;p58"/>
          <p:cNvSpPr txBox="1"/>
          <p:nvPr/>
        </p:nvSpPr>
        <p:spPr>
          <a:xfrm>
            <a:off x="4917550" y="1042325"/>
            <a:ext cx="39054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The Save Settings button allows you to save the agents you have added.  You will still need to change the other settings.</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This means you will not need to re-add agents everytime you launch the app.</a:t>
            </a:r>
            <a:endParaRPr>
              <a:solidFill>
                <a:schemeClr val="dk1"/>
              </a:solidFill>
              <a:latin typeface="Calibri"/>
              <a:ea typeface="Calibri"/>
              <a:cs typeface="Calibri"/>
              <a:sym typeface="Calibri"/>
            </a:endParaRPr>
          </a:p>
        </p:txBody>
      </p:sp>
      <p:pic>
        <p:nvPicPr>
          <p:cNvPr id="589" name="Google Shape;589;p58" title="savescreen.png"/>
          <p:cNvPicPr preferRelativeResize="0"/>
          <p:nvPr/>
        </p:nvPicPr>
        <p:blipFill>
          <a:blip r:embed="rId3">
            <a:alphaModFix/>
          </a:blip>
          <a:stretch>
            <a:fillRect/>
          </a:stretch>
        </p:blipFill>
        <p:spPr>
          <a:xfrm>
            <a:off x="457200" y="1042320"/>
            <a:ext cx="4150165" cy="3007230"/>
          </a:xfrm>
          <a:prstGeom prst="rect">
            <a:avLst/>
          </a:prstGeom>
          <a:noFill/>
          <a:ln cap="flat" cmpd="sng" w="9525">
            <a:solidFill>
              <a:schemeClr val="dk1"/>
            </a:solidFill>
            <a:prstDash val="solid"/>
            <a:round/>
            <a:headEnd len="sm" w="sm" type="none"/>
            <a:tailEnd len="sm" w="sm" type="none"/>
          </a:ln>
        </p:spPr>
      </p:pic>
      <p:pic>
        <p:nvPicPr>
          <p:cNvPr descr="slime_blue.png" id="590" name="Google Shape;590;p58"/>
          <p:cNvPicPr preferRelativeResize="0"/>
          <p:nvPr/>
        </p:nvPicPr>
        <p:blipFill rotWithShape="1">
          <a:blip r:embed="rId4">
            <a:alphaModFix/>
          </a:blip>
          <a:srcRect b="0" l="0" r="0" t="0"/>
          <a:stretch/>
        </p:blipFill>
        <p:spPr>
          <a:xfrm>
            <a:off x="5694130" y="3063670"/>
            <a:ext cx="2260976" cy="1695725"/>
          </a:xfrm>
          <a:prstGeom prst="rect">
            <a:avLst/>
          </a:prstGeom>
          <a:noFill/>
          <a:ln>
            <a:noFill/>
          </a:ln>
        </p:spPr>
      </p:pic>
      <p:pic>
        <p:nvPicPr>
          <p:cNvPr id="591" name="Google Shape;591;p58" title="crosseyedFace.gif"/>
          <p:cNvPicPr preferRelativeResize="0"/>
          <p:nvPr/>
        </p:nvPicPr>
        <p:blipFill>
          <a:blip r:embed="rId5">
            <a:alphaModFix/>
          </a:blip>
          <a:stretch>
            <a:fillRect/>
          </a:stretch>
        </p:blipFill>
        <p:spPr>
          <a:xfrm>
            <a:off x="6772413" y="3769454"/>
            <a:ext cx="691500" cy="691500"/>
          </a:xfrm>
          <a:prstGeom prst="rect">
            <a:avLst/>
          </a:prstGeom>
          <a:noFill/>
          <a:ln>
            <a:noFill/>
          </a:ln>
        </p:spPr>
      </p:pic>
      <p:pic>
        <p:nvPicPr>
          <p:cNvPr descr="slime_yellow.png" id="592" name="Google Shape;592;p58"/>
          <p:cNvPicPr preferRelativeResize="0"/>
          <p:nvPr/>
        </p:nvPicPr>
        <p:blipFill rotWithShape="1">
          <a:blip r:embed="rId6">
            <a:alphaModFix/>
          </a:blip>
          <a:srcRect b="0" l="0" r="0" t="0"/>
          <a:stretch/>
        </p:blipFill>
        <p:spPr>
          <a:xfrm>
            <a:off x="5013625" y="2304425"/>
            <a:ext cx="1530100" cy="1147575"/>
          </a:xfrm>
          <a:prstGeom prst="rect">
            <a:avLst/>
          </a:prstGeom>
          <a:noFill/>
          <a:ln>
            <a:noFill/>
          </a:ln>
        </p:spPr>
      </p:pic>
      <p:pic>
        <p:nvPicPr>
          <p:cNvPr id="593" name="Google Shape;593;p58" title="cartoonFace.gif"/>
          <p:cNvPicPr preferRelativeResize="0"/>
          <p:nvPr/>
        </p:nvPicPr>
        <p:blipFill>
          <a:blip r:embed="rId7">
            <a:alphaModFix/>
          </a:blip>
          <a:stretch>
            <a:fillRect/>
          </a:stretch>
        </p:blipFill>
        <p:spPr>
          <a:xfrm>
            <a:off x="5390600" y="2764129"/>
            <a:ext cx="515217" cy="515217"/>
          </a:xfrm>
          <a:prstGeom prst="rect">
            <a:avLst/>
          </a:prstGeom>
          <a:noFill/>
          <a:ln>
            <a:noFill/>
          </a:ln>
        </p:spPr>
      </p:pic>
      <p:pic>
        <p:nvPicPr>
          <p:cNvPr descr="slime_red.png" id="594" name="Google Shape;594;p58"/>
          <p:cNvPicPr preferRelativeResize="0"/>
          <p:nvPr/>
        </p:nvPicPr>
        <p:blipFill rotWithShape="1">
          <a:blip r:embed="rId8">
            <a:alphaModFix/>
          </a:blip>
          <a:srcRect b="0" l="0" r="0" t="0"/>
          <a:stretch/>
        </p:blipFill>
        <p:spPr>
          <a:xfrm>
            <a:off x="7372625" y="2522955"/>
            <a:ext cx="1370599" cy="1027958"/>
          </a:xfrm>
          <a:prstGeom prst="rect">
            <a:avLst/>
          </a:prstGeom>
          <a:noFill/>
          <a:ln>
            <a:noFill/>
          </a:ln>
        </p:spPr>
      </p:pic>
      <p:pic>
        <p:nvPicPr>
          <p:cNvPr id="595" name="Google Shape;595;p58" title="angryTongueFace.gif"/>
          <p:cNvPicPr preferRelativeResize="0"/>
          <p:nvPr/>
        </p:nvPicPr>
        <p:blipFill>
          <a:blip r:embed="rId9">
            <a:alphaModFix/>
          </a:blip>
          <a:stretch>
            <a:fillRect/>
          </a:stretch>
        </p:blipFill>
        <p:spPr>
          <a:xfrm>
            <a:off x="7599528" y="2877956"/>
            <a:ext cx="559982" cy="559982"/>
          </a:xfrm>
          <a:prstGeom prst="rect">
            <a:avLst/>
          </a:prstGeom>
          <a:noFill/>
          <a:ln>
            <a:noFill/>
          </a:ln>
        </p:spPr>
      </p:pic>
      <p:sp>
        <p:nvSpPr>
          <p:cNvPr id="596" name="Google Shape;596;p58"/>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9"/>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Settings</a:t>
            </a:r>
            <a:endParaRPr/>
          </a:p>
        </p:txBody>
      </p:sp>
      <p:sp>
        <p:nvSpPr>
          <p:cNvPr id="602" name="Google Shape;602;p59"/>
          <p:cNvSpPr txBox="1"/>
          <p:nvPr/>
        </p:nvSpPr>
        <p:spPr>
          <a:xfrm>
            <a:off x="1686652" y="4201950"/>
            <a:ext cx="5017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The settings tab</a:t>
            </a:r>
            <a:endParaRPr sz="1800">
              <a:solidFill>
                <a:schemeClr val="dk1"/>
              </a:solidFill>
              <a:latin typeface="Calibri"/>
              <a:ea typeface="Calibri"/>
              <a:cs typeface="Calibri"/>
              <a:sym typeface="Calibri"/>
            </a:endParaRPr>
          </a:p>
        </p:txBody>
      </p:sp>
      <p:sp>
        <p:nvSpPr>
          <p:cNvPr id="603" name="Google Shape;603;p59"/>
          <p:cNvSpPr txBox="1"/>
          <p:nvPr/>
        </p:nvSpPr>
        <p:spPr>
          <a:xfrm>
            <a:off x="4917550" y="1042325"/>
            <a:ext cx="39054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The Load Settings button loads any previously saved game settings.</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Saved settings as stored as json files in the ./saves/ folder.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If you find you have too many saves simply delete them from this folder.</a:t>
            </a:r>
            <a:endParaRPr>
              <a:solidFill>
                <a:schemeClr val="dk1"/>
              </a:solidFill>
              <a:latin typeface="Calibri"/>
              <a:ea typeface="Calibri"/>
              <a:cs typeface="Calibri"/>
              <a:sym typeface="Calibri"/>
            </a:endParaRPr>
          </a:p>
        </p:txBody>
      </p:sp>
      <p:pic>
        <p:nvPicPr>
          <p:cNvPr id="604" name="Google Shape;604;p59" title="load.png"/>
          <p:cNvPicPr preferRelativeResize="0"/>
          <p:nvPr/>
        </p:nvPicPr>
        <p:blipFill>
          <a:blip r:embed="rId3">
            <a:alphaModFix/>
          </a:blip>
          <a:stretch>
            <a:fillRect/>
          </a:stretch>
        </p:blipFill>
        <p:spPr>
          <a:xfrm>
            <a:off x="421100" y="1042320"/>
            <a:ext cx="4150912" cy="3007230"/>
          </a:xfrm>
          <a:prstGeom prst="rect">
            <a:avLst/>
          </a:prstGeom>
          <a:noFill/>
          <a:ln cap="flat" cmpd="sng" w="9525">
            <a:solidFill>
              <a:schemeClr val="dk1"/>
            </a:solidFill>
            <a:prstDash val="solid"/>
            <a:round/>
            <a:headEnd len="sm" w="sm" type="none"/>
            <a:tailEnd len="sm" w="sm" type="none"/>
          </a:ln>
        </p:spPr>
      </p:pic>
      <p:pic>
        <p:nvPicPr>
          <p:cNvPr descr="slime_red.png" id="605" name="Google Shape;605;p59"/>
          <p:cNvPicPr preferRelativeResize="0"/>
          <p:nvPr/>
        </p:nvPicPr>
        <p:blipFill rotWithShape="1">
          <a:blip r:embed="rId4">
            <a:alphaModFix/>
          </a:blip>
          <a:srcRect b="0" l="0" r="0" t="0"/>
          <a:stretch/>
        </p:blipFill>
        <p:spPr>
          <a:xfrm>
            <a:off x="6072550" y="2953450"/>
            <a:ext cx="2157049" cy="1617800"/>
          </a:xfrm>
          <a:prstGeom prst="rect">
            <a:avLst/>
          </a:prstGeom>
          <a:noFill/>
          <a:ln>
            <a:noFill/>
          </a:ln>
        </p:spPr>
      </p:pic>
      <p:pic>
        <p:nvPicPr>
          <p:cNvPr id="606" name="Google Shape;606;p59" title="angryTongueFace.gif"/>
          <p:cNvPicPr preferRelativeResize="0"/>
          <p:nvPr/>
        </p:nvPicPr>
        <p:blipFill>
          <a:blip r:embed="rId5">
            <a:alphaModFix/>
          </a:blip>
          <a:stretch>
            <a:fillRect/>
          </a:stretch>
        </p:blipFill>
        <p:spPr>
          <a:xfrm>
            <a:off x="6429650" y="3512151"/>
            <a:ext cx="881300" cy="881300"/>
          </a:xfrm>
          <a:prstGeom prst="rect">
            <a:avLst/>
          </a:prstGeom>
          <a:noFill/>
          <a:ln>
            <a:noFill/>
          </a:ln>
        </p:spPr>
      </p:pic>
      <p:pic>
        <p:nvPicPr>
          <p:cNvPr descr="slime_yellow.png" id="607" name="Google Shape;607;p59"/>
          <p:cNvPicPr preferRelativeResize="0"/>
          <p:nvPr/>
        </p:nvPicPr>
        <p:blipFill rotWithShape="1">
          <a:blip r:embed="rId6">
            <a:alphaModFix/>
          </a:blip>
          <a:srcRect b="0" l="0" r="0" t="0"/>
          <a:stretch/>
        </p:blipFill>
        <p:spPr>
          <a:xfrm>
            <a:off x="4485252" y="3875087"/>
            <a:ext cx="1364025" cy="1023024"/>
          </a:xfrm>
          <a:prstGeom prst="rect">
            <a:avLst/>
          </a:prstGeom>
          <a:noFill/>
          <a:ln>
            <a:noFill/>
          </a:ln>
        </p:spPr>
      </p:pic>
      <p:pic>
        <p:nvPicPr>
          <p:cNvPr id="608" name="Google Shape;608;p59" title="mildFace.gif"/>
          <p:cNvPicPr preferRelativeResize="0"/>
          <p:nvPr/>
        </p:nvPicPr>
        <p:blipFill>
          <a:blip r:embed="rId7">
            <a:alphaModFix/>
          </a:blip>
          <a:stretch>
            <a:fillRect/>
          </a:stretch>
        </p:blipFill>
        <p:spPr>
          <a:xfrm>
            <a:off x="4717514" y="4157827"/>
            <a:ext cx="457551" cy="457551"/>
          </a:xfrm>
          <a:prstGeom prst="rect">
            <a:avLst/>
          </a:prstGeom>
          <a:noFill/>
          <a:ln>
            <a:noFill/>
          </a:ln>
        </p:spPr>
      </p:pic>
      <p:sp>
        <p:nvSpPr>
          <p:cNvPr id="609" name="Google Shape;609;p59"/>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60"/>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The Game Simulation</a:t>
            </a:r>
            <a:endParaRPr/>
          </a:p>
        </p:txBody>
      </p:sp>
      <p:sp>
        <p:nvSpPr>
          <p:cNvPr id="615" name="Google Shape;615;p60"/>
          <p:cNvSpPr txBox="1"/>
          <p:nvPr/>
        </p:nvSpPr>
        <p:spPr>
          <a:xfrm>
            <a:off x="1686652" y="4201950"/>
            <a:ext cx="5017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The display tab</a:t>
            </a:r>
            <a:endParaRPr sz="1800">
              <a:solidFill>
                <a:schemeClr val="dk1"/>
              </a:solidFill>
              <a:latin typeface="Calibri"/>
              <a:ea typeface="Calibri"/>
              <a:cs typeface="Calibri"/>
              <a:sym typeface="Calibri"/>
            </a:endParaRPr>
          </a:p>
        </p:txBody>
      </p:sp>
      <p:sp>
        <p:nvSpPr>
          <p:cNvPr id="616" name="Google Shape;616;p60"/>
          <p:cNvSpPr txBox="1"/>
          <p:nvPr/>
        </p:nvSpPr>
        <p:spPr>
          <a:xfrm>
            <a:off x="4955250" y="1042325"/>
            <a:ext cx="39054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Clicking the display tab brings you to the game interface.</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Press the Reload button to load your game settings.</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You can press this button at any time to reset the simulation.</a:t>
            </a:r>
            <a:endParaRPr>
              <a:solidFill>
                <a:schemeClr val="dk1"/>
              </a:solidFill>
              <a:latin typeface="Calibri"/>
              <a:ea typeface="Calibri"/>
              <a:cs typeface="Calibri"/>
              <a:sym typeface="Calibri"/>
            </a:endParaRPr>
          </a:p>
        </p:txBody>
      </p:sp>
      <p:pic>
        <p:nvPicPr>
          <p:cNvPr id="617" name="Google Shape;617;p60" title="display.png"/>
          <p:cNvPicPr preferRelativeResize="0"/>
          <p:nvPr/>
        </p:nvPicPr>
        <p:blipFill>
          <a:blip r:embed="rId3">
            <a:alphaModFix/>
          </a:blip>
          <a:stretch>
            <a:fillRect/>
          </a:stretch>
        </p:blipFill>
        <p:spPr>
          <a:xfrm>
            <a:off x="662925" y="1042320"/>
            <a:ext cx="4137674" cy="3007230"/>
          </a:xfrm>
          <a:prstGeom prst="rect">
            <a:avLst/>
          </a:prstGeom>
          <a:noFill/>
          <a:ln cap="flat" cmpd="sng" w="9525">
            <a:solidFill>
              <a:schemeClr val="dk1"/>
            </a:solidFill>
            <a:prstDash val="solid"/>
            <a:round/>
            <a:headEnd len="sm" w="sm" type="none"/>
            <a:tailEnd len="sm" w="sm" type="none"/>
          </a:ln>
        </p:spPr>
      </p:pic>
      <p:sp>
        <p:nvSpPr>
          <p:cNvPr id="618" name="Google Shape;618;p60"/>
          <p:cNvSpPr/>
          <p:nvPr/>
        </p:nvSpPr>
        <p:spPr>
          <a:xfrm>
            <a:off x="886425" y="1356000"/>
            <a:ext cx="694200" cy="1632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500">
                <a:latin typeface="Calibri"/>
                <a:ea typeface="Calibri"/>
                <a:cs typeface="Calibri"/>
                <a:sym typeface="Calibri"/>
              </a:rPr>
              <a:t>RELOAD BUTTON</a:t>
            </a:r>
            <a:endParaRPr sz="500">
              <a:latin typeface="Calibri"/>
              <a:ea typeface="Calibri"/>
              <a:cs typeface="Calibri"/>
              <a:sym typeface="Calibri"/>
            </a:endParaRPr>
          </a:p>
        </p:txBody>
      </p:sp>
      <p:pic>
        <p:nvPicPr>
          <p:cNvPr descr="slime_red.png" id="619" name="Google Shape;619;p60"/>
          <p:cNvPicPr preferRelativeResize="0"/>
          <p:nvPr/>
        </p:nvPicPr>
        <p:blipFill rotWithShape="1">
          <a:blip r:embed="rId4">
            <a:alphaModFix/>
          </a:blip>
          <a:srcRect b="0" l="0" r="0" t="0"/>
          <a:stretch/>
        </p:blipFill>
        <p:spPr>
          <a:xfrm>
            <a:off x="5301275" y="3293650"/>
            <a:ext cx="2179000" cy="1634244"/>
          </a:xfrm>
          <a:prstGeom prst="rect">
            <a:avLst/>
          </a:prstGeom>
          <a:noFill/>
          <a:ln>
            <a:noFill/>
          </a:ln>
        </p:spPr>
      </p:pic>
      <p:pic>
        <p:nvPicPr>
          <p:cNvPr id="620" name="Google Shape;620;p60" title="crosseyedFace.gif"/>
          <p:cNvPicPr preferRelativeResize="0"/>
          <p:nvPr/>
        </p:nvPicPr>
        <p:blipFill>
          <a:blip r:embed="rId5">
            <a:alphaModFix/>
          </a:blip>
          <a:stretch>
            <a:fillRect/>
          </a:stretch>
        </p:blipFill>
        <p:spPr>
          <a:xfrm>
            <a:off x="5641364" y="3774184"/>
            <a:ext cx="828686" cy="828686"/>
          </a:xfrm>
          <a:prstGeom prst="rect">
            <a:avLst/>
          </a:prstGeom>
          <a:noFill/>
          <a:ln>
            <a:noFill/>
          </a:ln>
        </p:spPr>
      </p:pic>
      <p:pic>
        <p:nvPicPr>
          <p:cNvPr descr="slime_blue.png" id="621" name="Google Shape;621;p60"/>
          <p:cNvPicPr preferRelativeResize="0"/>
          <p:nvPr/>
        </p:nvPicPr>
        <p:blipFill rotWithShape="1">
          <a:blip r:embed="rId6">
            <a:alphaModFix/>
          </a:blip>
          <a:srcRect b="0" l="0" r="0" t="0"/>
          <a:stretch/>
        </p:blipFill>
        <p:spPr>
          <a:xfrm>
            <a:off x="7145985" y="2571760"/>
            <a:ext cx="1645920" cy="1234440"/>
          </a:xfrm>
          <a:prstGeom prst="rect">
            <a:avLst/>
          </a:prstGeom>
          <a:noFill/>
          <a:ln>
            <a:noFill/>
          </a:ln>
        </p:spPr>
      </p:pic>
      <p:pic>
        <p:nvPicPr>
          <p:cNvPr id="622" name="Google Shape;622;p60" title="cartoonFace.gif"/>
          <p:cNvPicPr preferRelativeResize="0"/>
          <p:nvPr/>
        </p:nvPicPr>
        <p:blipFill>
          <a:blip r:embed="rId7">
            <a:alphaModFix/>
          </a:blip>
          <a:stretch>
            <a:fillRect/>
          </a:stretch>
        </p:blipFill>
        <p:spPr>
          <a:xfrm>
            <a:off x="7741225" y="3043300"/>
            <a:ext cx="762900" cy="762900"/>
          </a:xfrm>
          <a:prstGeom prst="rect">
            <a:avLst/>
          </a:prstGeom>
          <a:noFill/>
          <a:ln>
            <a:noFill/>
          </a:ln>
        </p:spPr>
      </p:pic>
      <p:sp>
        <p:nvSpPr>
          <p:cNvPr id="623" name="Google Shape;623;p60"/>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61"/>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The Game Simulation</a:t>
            </a:r>
            <a:endParaRPr/>
          </a:p>
        </p:txBody>
      </p:sp>
      <p:sp>
        <p:nvSpPr>
          <p:cNvPr id="629" name="Google Shape;629;p61"/>
          <p:cNvSpPr txBox="1"/>
          <p:nvPr/>
        </p:nvSpPr>
        <p:spPr>
          <a:xfrm>
            <a:off x="196825" y="4201950"/>
            <a:ext cx="4555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The display tab once the reload button has been pressed</a:t>
            </a:r>
            <a:endParaRPr sz="1800">
              <a:solidFill>
                <a:schemeClr val="dk1"/>
              </a:solidFill>
              <a:latin typeface="Calibri"/>
              <a:ea typeface="Calibri"/>
              <a:cs typeface="Calibri"/>
              <a:sym typeface="Calibri"/>
            </a:endParaRPr>
          </a:p>
        </p:txBody>
      </p:sp>
      <p:sp>
        <p:nvSpPr>
          <p:cNvPr id="630" name="Google Shape;630;p61"/>
          <p:cNvSpPr txBox="1"/>
          <p:nvPr/>
        </p:nvSpPr>
        <p:spPr>
          <a:xfrm>
            <a:off x="4955250" y="1042325"/>
            <a:ext cx="39054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Once the simulation is loaded you will see the game in its </a:t>
            </a:r>
            <a:r>
              <a:rPr lang="en">
                <a:solidFill>
                  <a:schemeClr val="dk1"/>
                </a:solidFill>
                <a:latin typeface="Calibri"/>
                <a:ea typeface="Calibri"/>
                <a:cs typeface="Calibri"/>
                <a:sym typeface="Calibri"/>
              </a:rPr>
              <a:t>initial</a:t>
            </a:r>
            <a:r>
              <a:rPr lang="en">
                <a:solidFill>
                  <a:schemeClr val="dk1"/>
                </a:solidFill>
                <a:latin typeface="Calibri"/>
                <a:ea typeface="Calibri"/>
                <a:cs typeface="Calibri"/>
                <a:sym typeface="Calibri"/>
              </a:rPr>
              <a:t> starting state. Colored nodes are </a:t>
            </a:r>
            <a:r>
              <a:rPr lang="en">
                <a:solidFill>
                  <a:schemeClr val="dk1"/>
                </a:solidFill>
                <a:latin typeface="Calibri"/>
                <a:ea typeface="Calibri"/>
                <a:cs typeface="Calibri"/>
                <a:sym typeface="Calibri"/>
              </a:rPr>
              <a:t>controlled</a:t>
            </a:r>
            <a:r>
              <a:rPr lang="en">
                <a:solidFill>
                  <a:schemeClr val="dk1"/>
                </a:solidFill>
                <a:latin typeface="Calibri"/>
                <a:ea typeface="Calibri"/>
                <a:cs typeface="Calibri"/>
                <a:sym typeface="Calibri"/>
              </a:rPr>
              <a:t> by their respective agents and the numbers on the outside of the ring indicate the number of Fernies on that node.</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You can press either the play button or the forward button to start the simulation.</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Play Button</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Forward Button</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Pause Button</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Back Button</a:t>
            </a:r>
            <a:endParaRPr>
              <a:solidFill>
                <a:schemeClr val="dk1"/>
              </a:solidFill>
              <a:latin typeface="Calibri"/>
              <a:ea typeface="Calibri"/>
              <a:cs typeface="Calibri"/>
              <a:sym typeface="Calibri"/>
            </a:endParaRPr>
          </a:p>
        </p:txBody>
      </p:sp>
      <p:pic>
        <p:nvPicPr>
          <p:cNvPr id="631" name="Google Shape;631;p61" title="displayloaded.png"/>
          <p:cNvPicPr preferRelativeResize="0"/>
          <p:nvPr/>
        </p:nvPicPr>
        <p:blipFill>
          <a:blip r:embed="rId3">
            <a:alphaModFix/>
          </a:blip>
          <a:stretch>
            <a:fillRect/>
          </a:stretch>
        </p:blipFill>
        <p:spPr>
          <a:xfrm>
            <a:off x="457200" y="965095"/>
            <a:ext cx="4153287" cy="3007230"/>
          </a:xfrm>
          <a:prstGeom prst="rect">
            <a:avLst/>
          </a:prstGeom>
          <a:noFill/>
          <a:ln cap="flat" cmpd="sng" w="9525">
            <a:solidFill>
              <a:schemeClr val="dk1"/>
            </a:solidFill>
            <a:prstDash val="solid"/>
            <a:round/>
            <a:headEnd len="sm" w="sm" type="none"/>
            <a:tailEnd len="sm" w="sm" type="none"/>
          </a:ln>
        </p:spPr>
      </p:pic>
      <p:pic>
        <p:nvPicPr>
          <p:cNvPr id="632" name="Google Shape;632;p61" title="forward.gif"/>
          <p:cNvPicPr preferRelativeResize="0"/>
          <p:nvPr/>
        </p:nvPicPr>
        <p:blipFill>
          <a:blip r:embed="rId4">
            <a:alphaModFix/>
          </a:blip>
          <a:stretch>
            <a:fillRect/>
          </a:stretch>
        </p:blipFill>
        <p:spPr>
          <a:xfrm>
            <a:off x="6523850" y="3500850"/>
            <a:ext cx="238125" cy="238125"/>
          </a:xfrm>
          <a:prstGeom prst="rect">
            <a:avLst/>
          </a:prstGeom>
          <a:noFill/>
          <a:ln cap="flat" cmpd="sng" w="9525">
            <a:solidFill>
              <a:schemeClr val="dk1"/>
            </a:solidFill>
            <a:prstDash val="solid"/>
            <a:round/>
            <a:headEnd len="sm" w="sm" type="none"/>
            <a:tailEnd len="sm" w="sm" type="none"/>
          </a:ln>
        </p:spPr>
      </p:pic>
      <p:pic>
        <p:nvPicPr>
          <p:cNvPr id="633" name="Google Shape;633;p61" title="play.gif"/>
          <p:cNvPicPr preferRelativeResize="0"/>
          <p:nvPr/>
        </p:nvPicPr>
        <p:blipFill>
          <a:blip r:embed="rId5">
            <a:alphaModFix/>
          </a:blip>
          <a:stretch>
            <a:fillRect/>
          </a:stretch>
        </p:blipFill>
        <p:spPr>
          <a:xfrm>
            <a:off x="6183225" y="3037450"/>
            <a:ext cx="238125" cy="238125"/>
          </a:xfrm>
          <a:prstGeom prst="rect">
            <a:avLst/>
          </a:prstGeom>
          <a:noFill/>
          <a:ln cap="flat" cmpd="sng" w="9525">
            <a:solidFill>
              <a:schemeClr val="dk1"/>
            </a:solidFill>
            <a:prstDash val="solid"/>
            <a:round/>
            <a:headEnd len="sm" w="sm" type="none"/>
            <a:tailEnd len="sm" w="sm" type="none"/>
          </a:ln>
        </p:spPr>
      </p:pic>
      <p:pic>
        <p:nvPicPr>
          <p:cNvPr id="634" name="Google Shape;634;p61" title="back.gif"/>
          <p:cNvPicPr preferRelativeResize="0"/>
          <p:nvPr/>
        </p:nvPicPr>
        <p:blipFill>
          <a:blip r:embed="rId6">
            <a:alphaModFix/>
          </a:blip>
          <a:stretch>
            <a:fillRect/>
          </a:stretch>
        </p:blipFill>
        <p:spPr>
          <a:xfrm>
            <a:off x="6268375" y="4311475"/>
            <a:ext cx="255475" cy="255475"/>
          </a:xfrm>
          <a:prstGeom prst="rect">
            <a:avLst/>
          </a:prstGeom>
          <a:noFill/>
          <a:ln cap="flat" cmpd="sng" w="9525">
            <a:solidFill>
              <a:schemeClr val="dk1"/>
            </a:solidFill>
            <a:prstDash val="solid"/>
            <a:round/>
            <a:headEnd len="sm" w="sm" type="none"/>
            <a:tailEnd len="sm" w="sm" type="none"/>
          </a:ln>
        </p:spPr>
      </p:pic>
      <p:pic>
        <p:nvPicPr>
          <p:cNvPr id="635" name="Google Shape;635;p61" title="pause.gif"/>
          <p:cNvPicPr preferRelativeResize="0"/>
          <p:nvPr/>
        </p:nvPicPr>
        <p:blipFill>
          <a:blip r:embed="rId7">
            <a:alphaModFix/>
          </a:blip>
          <a:stretch>
            <a:fillRect/>
          </a:stretch>
        </p:blipFill>
        <p:spPr>
          <a:xfrm>
            <a:off x="6322400" y="3897488"/>
            <a:ext cx="255475" cy="255475"/>
          </a:xfrm>
          <a:prstGeom prst="rect">
            <a:avLst/>
          </a:prstGeom>
          <a:noFill/>
          <a:ln cap="flat" cmpd="sng" w="9525">
            <a:solidFill>
              <a:schemeClr val="dk1"/>
            </a:solidFill>
            <a:prstDash val="solid"/>
            <a:round/>
            <a:headEnd len="sm" w="sm" type="none"/>
            <a:tailEnd len="sm" w="sm" type="none"/>
          </a:ln>
        </p:spPr>
      </p:pic>
      <p:sp>
        <p:nvSpPr>
          <p:cNvPr id="636" name="Google Shape;636;p61"/>
          <p:cNvSpPr/>
          <p:nvPr/>
        </p:nvSpPr>
        <p:spPr>
          <a:xfrm>
            <a:off x="3659150" y="1200100"/>
            <a:ext cx="912900" cy="2382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Calibri"/>
                <a:ea typeface="Calibri"/>
                <a:cs typeface="Calibri"/>
                <a:sym typeface="Calibri"/>
              </a:rPr>
              <a:t>Set Sim Speed</a:t>
            </a:r>
            <a:endParaRPr sz="900">
              <a:latin typeface="Calibri"/>
              <a:ea typeface="Calibri"/>
              <a:cs typeface="Calibri"/>
              <a:sym typeface="Calibri"/>
            </a:endParaRPr>
          </a:p>
        </p:txBody>
      </p:sp>
      <p:pic>
        <p:nvPicPr>
          <p:cNvPr descr="slime_blue.png" id="637" name="Google Shape;637;p61"/>
          <p:cNvPicPr preferRelativeResize="0"/>
          <p:nvPr/>
        </p:nvPicPr>
        <p:blipFill rotWithShape="1">
          <a:blip r:embed="rId8">
            <a:alphaModFix/>
          </a:blip>
          <a:srcRect b="0" l="0" r="0" t="0"/>
          <a:stretch/>
        </p:blipFill>
        <p:spPr>
          <a:xfrm>
            <a:off x="6883026" y="3389886"/>
            <a:ext cx="1977626" cy="1483212"/>
          </a:xfrm>
          <a:prstGeom prst="rect">
            <a:avLst/>
          </a:prstGeom>
          <a:noFill/>
          <a:ln>
            <a:noFill/>
          </a:ln>
        </p:spPr>
      </p:pic>
      <p:pic>
        <p:nvPicPr>
          <p:cNvPr id="638" name="Google Shape;638;p61" title="mildFace.gif"/>
          <p:cNvPicPr preferRelativeResize="0"/>
          <p:nvPr/>
        </p:nvPicPr>
        <p:blipFill>
          <a:blip r:embed="rId9">
            <a:alphaModFix/>
          </a:blip>
          <a:stretch>
            <a:fillRect/>
          </a:stretch>
        </p:blipFill>
        <p:spPr>
          <a:xfrm>
            <a:off x="7341825" y="3897508"/>
            <a:ext cx="772650" cy="772650"/>
          </a:xfrm>
          <a:prstGeom prst="rect">
            <a:avLst/>
          </a:prstGeom>
          <a:noFill/>
          <a:ln>
            <a:noFill/>
          </a:ln>
        </p:spPr>
      </p:pic>
      <p:sp>
        <p:nvSpPr>
          <p:cNvPr id="639" name="Google Shape;639;p61"/>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62"/>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The Game Simulation</a:t>
            </a:r>
            <a:endParaRPr/>
          </a:p>
        </p:txBody>
      </p:sp>
      <p:sp>
        <p:nvSpPr>
          <p:cNvPr id="645" name="Google Shape;645;p62"/>
          <p:cNvSpPr txBox="1"/>
          <p:nvPr/>
        </p:nvSpPr>
        <p:spPr>
          <a:xfrm>
            <a:off x="407750" y="4201950"/>
            <a:ext cx="4555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The display tab once the game has begun</a:t>
            </a:r>
            <a:endParaRPr sz="1800">
              <a:solidFill>
                <a:schemeClr val="dk1"/>
              </a:solidFill>
              <a:latin typeface="Calibri"/>
              <a:ea typeface="Calibri"/>
              <a:cs typeface="Calibri"/>
              <a:sym typeface="Calibri"/>
            </a:endParaRPr>
          </a:p>
        </p:txBody>
      </p:sp>
      <p:sp>
        <p:nvSpPr>
          <p:cNvPr id="646" name="Google Shape;646;p62"/>
          <p:cNvSpPr txBox="1"/>
          <p:nvPr/>
        </p:nvSpPr>
        <p:spPr>
          <a:xfrm>
            <a:off x="4955250" y="889925"/>
            <a:ext cx="39054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Once you begin the game simulation you will note a small blue or red arrow on the inside of the ring. This indicates the direction of the ring search in the resolution phase and its starting edge.</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In the image on the left the ring search starts on node 3 and moves counterclockwise. (This means the edge between nodes 2 and 3 forms a pseudo safe-zone)</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Clockwise Search:</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Counterclockwise Search:</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Please note that the display only shows the state of the Ring after the resolution phase. </a:t>
            </a:r>
            <a:endParaRPr>
              <a:solidFill>
                <a:schemeClr val="dk1"/>
              </a:solidFill>
              <a:latin typeface="Calibri"/>
              <a:ea typeface="Calibri"/>
              <a:cs typeface="Calibri"/>
              <a:sym typeface="Calibri"/>
            </a:endParaRPr>
          </a:p>
        </p:txBody>
      </p:sp>
      <p:pic>
        <p:nvPicPr>
          <p:cNvPr id="647" name="Google Shape;647;p62" title="RINGapp_counterclockwisearrow.png"/>
          <p:cNvPicPr preferRelativeResize="0"/>
          <p:nvPr/>
        </p:nvPicPr>
        <p:blipFill>
          <a:blip r:embed="rId3">
            <a:alphaModFix/>
          </a:blip>
          <a:stretch>
            <a:fillRect/>
          </a:stretch>
        </p:blipFill>
        <p:spPr>
          <a:xfrm>
            <a:off x="407738" y="1042320"/>
            <a:ext cx="4133381" cy="3007229"/>
          </a:xfrm>
          <a:prstGeom prst="rect">
            <a:avLst/>
          </a:prstGeom>
          <a:noFill/>
          <a:ln cap="flat" cmpd="sng" w="9525">
            <a:solidFill>
              <a:schemeClr val="dk1"/>
            </a:solidFill>
            <a:prstDash val="solid"/>
            <a:round/>
            <a:headEnd len="sm" w="sm" type="none"/>
            <a:tailEnd len="sm" w="sm" type="none"/>
          </a:ln>
        </p:spPr>
      </p:pic>
      <p:pic>
        <p:nvPicPr>
          <p:cNvPr id="648" name="Google Shape;648;p62" title="redclockwise.gif"/>
          <p:cNvPicPr preferRelativeResize="0"/>
          <p:nvPr/>
        </p:nvPicPr>
        <p:blipFill>
          <a:blip r:embed="rId4">
            <a:alphaModFix/>
          </a:blip>
          <a:stretch>
            <a:fillRect/>
          </a:stretch>
        </p:blipFill>
        <p:spPr>
          <a:xfrm>
            <a:off x="6674650" y="2984850"/>
            <a:ext cx="466600" cy="466600"/>
          </a:xfrm>
          <a:prstGeom prst="rect">
            <a:avLst/>
          </a:prstGeom>
          <a:noFill/>
          <a:ln>
            <a:noFill/>
          </a:ln>
        </p:spPr>
      </p:pic>
      <p:pic>
        <p:nvPicPr>
          <p:cNvPr id="649" name="Google Shape;649;p62" title="bluecounterclockwise.gif"/>
          <p:cNvPicPr preferRelativeResize="0"/>
          <p:nvPr/>
        </p:nvPicPr>
        <p:blipFill>
          <a:blip r:embed="rId5">
            <a:alphaModFix/>
          </a:blip>
          <a:stretch>
            <a:fillRect/>
          </a:stretch>
        </p:blipFill>
        <p:spPr>
          <a:xfrm>
            <a:off x="7141250" y="3621075"/>
            <a:ext cx="466600" cy="466600"/>
          </a:xfrm>
          <a:prstGeom prst="rect">
            <a:avLst/>
          </a:prstGeom>
          <a:noFill/>
          <a:ln>
            <a:noFill/>
          </a:ln>
        </p:spPr>
      </p:pic>
      <p:sp>
        <p:nvSpPr>
          <p:cNvPr id="650" name="Google Shape;650;p62"/>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63"/>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The Game Simulation</a:t>
            </a:r>
            <a:endParaRPr/>
          </a:p>
        </p:txBody>
      </p:sp>
      <p:sp>
        <p:nvSpPr>
          <p:cNvPr id="656" name="Google Shape;656;p63"/>
          <p:cNvSpPr txBox="1"/>
          <p:nvPr/>
        </p:nvSpPr>
        <p:spPr>
          <a:xfrm>
            <a:off x="407750" y="4201950"/>
            <a:ext cx="4555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The display tab once the game has begun</a:t>
            </a:r>
            <a:endParaRPr sz="1800">
              <a:solidFill>
                <a:schemeClr val="dk1"/>
              </a:solidFill>
              <a:latin typeface="Calibri"/>
              <a:ea typeface="Calibri"/>
              <a:cs typeface="Calibri"/>
              <a:sym typeface="Calibri"/>
            </a:endParaRPr>
          </a:p>
        </p:txBody>
      </p:sp>
      <p:sp>
        <p:nvSpPr>
          <p:cNvPr id="657" name="Google Shape;657;p63"/>
          <p:cNvSpPr txBox="1"/>
          <p:nvPr/>
        </p:nvSpPr>
        <p:spPr>
          <a:xfrm>
            <a:off x="4955250" y="1042325"/>
            <a:ext cx="39054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Clicking the Gameplay Setting Button gives you options to return to previous steps or enter Debug Mode.</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Gameplay</a:t>
            </a:r>
            <a:r>
              <a:rPr lang="en">
                <a:solidFill>
                  <a:schemeClr val="dk1"/>
                </a:solidFill>
                <a:latin typeface="Calibri"/>
                <a:ea typeface="Calibri"/>
                <a:cs typeface="Calibri"/>
                <a:sym typeface="Calibri"/>
              </a:rPr>
              <a:t> Settings Button: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If you are in Debug Mode you will find the option to return to normal mode in the same menu.</a:t>
            </a:r>
            <a:endParaRPr>
              <a:solidFill>
                <a:schemeClr val="dk1"/>
              </a:solidFill>
              <a:latin typeface="Calibri"/>
              <a:ea typeface="Calibri"/>
              <a:cs typeface="Calibri"/>
              <a:sym typeface="Calibri"/>
            </a:endParaRPr>
          </a:p>
        </p:txBody>
      </p:sp>
      <p:pic>
        <p:nvPicPr>
          <p:cNvPr id="658" name="Google Shape;658;p63" title="RINGapp_clockwisearrow.png"/>
          <p:cNvPicPr preferRelativeResize="0"/>
          <p:nvPr/>
        </p:nvPicPr>
        <p:blipFill>
          <a:blip r:embed="rId3">
            <a:alphaModFix/>
          </a:blip>
          <a:stretch>
            <a:fillRect/>
          </a:stretch>
        </p:blipFill>
        <p:spPr>
          <a:xfrm>
            <a:off x="407750" y="1042320"/>
            <a:ext cx="4145099" cy="3007229"/>
          </a:xfrm>
          <a:prstGeom prst="rect">
            <a:avLst/>
          </a:prstGeom>
          <a:noFill/>
          <a:ln cap="flat" cmpd="sng" w="9525">
            <a:solidFill>
              <a:schemeClr val="dk1"/>
            </a:solidFill>
            <a:prstDash val="solid"/>
            <a:round/>
            <a:headEnd len="sm" w="sm" type="none"/>
            <a:tailEnd len="sm" w="sm" type="none"/>
          </a:ln>
        </p:spPr>
      </p:pic>
      <p:pic>
        <p:nvPicPr>
          <p:cNvPr id="659" name="Google Shape;659;p63" title="playSettings.gif"/>
          <p:cNvPicPr preferRelativeResize="0"/>
          <p:nvPr/>
        </p:nvPicPr>
        <p:blipFill>
          <a:blip r:embed="rId4">
            <a:alphaModFix/>
          </a:blip>
          <a:stretch>
            <a:fillRect/>
          </a:stretch>
        </p:blipFill>
        <p:spPr>
          <a:xfrm>
            <a:off x="7150800" y="1873200"/>
            <a:ext cx="496475" cy="496475"/>
          </a:xfrm>
          <a:prstGeom prst="rect">
            <a:avLst/>
          </a:prstGeom>
          <a:noFill/>
          <a:ln cap="flat" cmpd="sng" w="9525">
            <a:solidFill>
              <a:schemeClr val="dk1"/>
            </a:solidFill>
            <a:prstDash val="solid"/>
            <a:round/>
            <a:headEnd len="sm" w="sm" type="none"/>
            <a:tailEnd len="sm" w="sm" type="none"/>
          </a:ln>
        </p:spPr>
      </p:pic>
      <p:pic>
        <p:nvPicPr>
          <p:cNvPr descr="slime_yellow.png" id="660" name="Google Shape;660;p63"/>
          <p:cNvPicPr preferRelativeResize="0"/>
          <p:nvPr/>
        </p:nvPicPr>
        <p:blipFill rotWithShape="1">
          <a:blip r:embed="rId5">
            <a:alphaModFix/>
          </a:blip>
          <a:srcRect b="0" l="0" r="0" t="0"/>
          <a:stretch/>
        </p:blipFill>
        <p:spPr>
          <a:xfrm>
            <a:off x="5284352" y="3479326"/>
            <a:ext cx="1923551" cy="1442650"/>
          </a:xfrm>
          <a:prstGeom prst="rect">
            <a:avLst/>
          </a:prstGeom>
          <a:noFill/>
          <a:ln>
            <a:noFill/>
          </a:ln>
        </p:spPr>
      </p:pic>
      <p:pic>
        <p:nvPicPr>
          <p:cNvPr id="661" name="Google Shape;661;p63" title="dullFace.gif"/>
          <p:cNvPicPr preferRelativeResize="0"/>
          <p:nvPr/>
        </p:nvPicPr>
        <p:blipFill>
          <a:blip r:embed="rId6">
            <a:alphaModFix/>
          </a:blip>
          <a:stretch>
            <a:fillRect/>
          </a:stretch>
        </p:blipFill>
        <p:spPr>
          <a:xfrm>
            <a:off x="6146948" y="4049550"/>
            <a:ext cx="615600" cy="615600"/>
          </a:xfrm>
          <a:prstGeom prst="rect">
            <a:avLst/>
          </a:prstGeom>
          <a:noFill/>
          <a:ln>
            <a:noFill/>
          </a:ln>
        </p:spPr>
      </p:pic>
      <p:pic>
        <p:nvPicPr>
          <p:cNvPr descr="slime_red.png" id="662" name="Google Shape;662;p63"/>
          <p:cNvPicPr preferRelativeResize="0"/>
          <p:nvPr/>
        </p:nvPicPr>
        <p:blipFill rotWithShape="1">
          <a:blip r:embed="rId7">
            <a:alphaModFix/>
          </a:blip>
          <a:srcRect b="0" l="0" r="0" t="0"/>
          <a:stretch/>
        </p:blipFill>
        <p:spPr>
          <a:xfrm>
            <a:off x="7150800" y="3382017"/>
            <a:ext cx="1370599" cy="1027957"/>
          </a:xfrm>
          <a:prstGeom prst="rect">
            <a:avLst/>
          </a:prstGeom>
          <a:noFill/>
          <a:ln>
            <a:noFill/>
          </a:ln>
        </p:spPr>
      </p:pic>
      <p:pic>
        <p:nvPicPr>
          <p:cNvPr id="663" name="Google Shape;663;p63" title="angryTongueFace.gif"/>
          <p:cNvPicPr preferRelativeResize="0"/>
          <p:nvPr/>
        </p:nvPicPr>
        <p:blipFill>
          <a:blip r:embed="rId8">
            <a:alphaModFix/>
          </a:blip>
          <a:stretch>
            <a:fillRect/>
          </a:stretch>
        </p:blipFill>
        <p:spPr>
          <a:xfrm>
            <a:off x="7377703" y="3737018"/>
            <a:ext cx="559982" cy="559982"/>
          </a:xfrm>
          <a:prstGeom prst="rect">
            <a:avLst/>
          </a:prstGeom>
          <a:noFill/>
          <a:ln>
            <a:noFill/>
          </a:ln>
        </p:spPr>
      </p:pic>
      <p:sp>
        <p:nvSpPr>
          <p:cNvPr id="664" name="Google Shape;664;p63"/>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64"/>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The Game Simulation</a:t>
            </a:r>
            <a:endParaRPr/>
          </a:p>
        </p:txBody>
      </p:sp>
      <p:sp>
        <p:nvSpPr>
          <p:cNvPr id="670" name="Google Shape;670;p64"/>
          <p:cNvSpPr txBox="1"/>
          <p:nvPr/>
        </p:nvSpPr>
        <p:spPr>
          <a:xfrm>
            <a:off x="1764725" y="4123650"/>
            <a:ext cx="173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Debug Mode</a:t>
            </a:r>
            <a:endParaRPr sz="1800">
              <a:solidFill>
                <a:schemeClr val="dk1"/>
              </a:solidFill>
              <a:latin typeface="Calibri"/>
              <a:ea typeface="Calibri"/>
              <a:cs typeface="Calibri"/>
              <a:sym typeface="Calibri"/>
            </a:endParaRPr>
          </a:p>
        </p:txBody>
      </p:sp>
      <p:sp>
        <p:nvSpPr>
          <p:cNvPr id="671" name="Google Shape;671;p64"/>
          <p:cNvSpPr txBox="1"/>
          <p:nvPr/>
        </p:nvSpPr>
        <p:spPr>
          <a:xfrm>
            <a:off x="4955250" y="889925"/>
            <a:ext cx="39054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In debug mode you will find useful information about the state of the ring and agents movements. The outer numbers on the ring still indicate the number of Fernies on each node.  The inner numbers indicate the global location of each ring node.</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On the left you will see a list of movements / actions made by each agent next to their name. Note the locations are global ring locations with the agents offset in </a:t>
            </a:r>
            <a:r>
              <a:rPr lang="en">
                <a:solidFill>
                  <a:schemeClr val="dk1"/>
                </a:solidFill>
                <a:latin typeface="Calibri"/>
                <a:ea typeface="Calibri"/>
                <a:cs typeface="Calibri"/>
                <a:sym typeface="Calibri"/>
              </a:rPr>
              <a:t>parentheses</a:t>
            </a:r>
            <a:r>
              <a:rPr lang="en">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So “(1) one places 16 at 0 (+10)” indicates that agent “one” has placed 16 Fernies on global node 10 (which from his perspective is node 0)</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Below these movements you will see the total number of Fernies owned by each agent.</a:t>
            </a:r>
            <a:endParaRPr>
              <a:solidFill>
                <a:schemeClr val="dk1"/>
              </a:solidFill>
              <a:latin typeface="Calibri"/>
              <a:ea typeface="Calibri"/>
              <a:cs typeface="Calibri"/>
              <a:sym typeface="Calibri"/>
            </a:endParaRPr>
          </a:p>
        </p:txBody>
      </p:sp>
      <p:pic>
        <p:nvPicPr>
          <p:cNvPr id="672" name="Google Shape;672;p64" title="debugmode.png"/>
          <p:cNvPicPr preferRelativeResize="0"/>
          <p:nvPr/>
        </p:nvPicPr>
        <p:blipFill>
          <a:blip r:embed="rId3">
            <a:alphaModFix/>
          </a:blip>
          <a:stretch>
            <a:fillRect/>
          </a:stretch>
        </p:blipFill>
        <p:spPr>
          <a:xfrm>
            <a:off x="392482" y="1042325"/>
            <a:ext cx="4093518" cy="2975974"/>
          </a:xfrm>
          <a:prstGeom prst="rect">
            <a:avLst/>
          </a:prstGeom>
          <a:noFill/>
          <a:ln cap="flat" cmpd="sng" w="9525">
            <a:solidFill>
              <a:schemeClr val="dk1"/>
            </a:solidFill>
            <a:prstDash val="solid"/>
            <a:round/>
            <a:headEnd len="sm" w="sm" type="none"/>
            <a:tailEnd len="sm" w="sm" type="none"/>
          </a:ln>
        </p:spPr>
      </p:pic>
      <p:sp>
        <p:nvSpPr>
          <p:cNvPr id="673" name="Google Shape;673;p64"/>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65"/>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The Game Simulation</a:t>
            </a:r>
            <a:endParaRPr/>
          </a:p>
        </p:txBody>
      </p:sp>
      <p:sp>
        <p:nvSpPr>
          <p:cNvPr id="679" name="Google Shape;679;p65"/>
          <p:cNvSpPr txBox="1"/>
          <p:nvPr/>
        </p:nvSpPr>
        <p:spPr>
          <a:xfrm>
            <a:off x="1764725" y="4123650"/>
            <a:ext cx="173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Victory for Blue</a:t>
            </a:r>
            <a:endParaRPr sz="1800">
              <a:solidFill>
                <a:schemeClr val="dk1"/>
              </a:solidFill>
              <a:latin typeface="Calibri"/>
              <a:ea typeface="Calibri"/>
              <a:cs typeface="Calibri"/>
              <a:sym typeface="Calibri"/>
            </a:endParaRPr>
          </a:p>
        </p:txBody>
      </p:sp>
      <p:sp>
        <p:nvSpPr>
          <p:cNvPr id="680" name="Google Shape;680;p65"/>
          <p:cNvSpPr txBox="1"/>
          <p:nvPr/>
        </p:nvSpPr>
        <p:spPr>
          <a:xfrm>
            <a:off x="4955250" y="889925"/>
            <a:ext cx="3905400" cy="1523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900">
                <a:solidFill>
                  <a:schemeClr val="dk1"/>
                </a:solidFill>
                <a:latin typeface="Calibri"/>
                <a:ea typeface="Calibri"/>
                <a:cs typeface="Calibri"/>
                <a:sym typeface="Calibri"/>
              </a:rPr>
              <a:t>Victory occurs when your agent eliminates his </a:t>
            </a:r>
            <a:r>
              <a:rPr lang="en" sz="2900">
                <a:solidFill>
                  <a:schemeClr val="dk1"/>
                </a:solidFill>
                <a:latin typeface="Calibri"/>
                <a:ea typeface="Calibri"/>
                <a:cs typeface="Calibri"/>
                <a:sym typeface="Calibri"/>
              </a:rPr>
              <a:t>opponent</a:t>
            </a:r>
            <a:r>
              <a:rPr lang="en" sz="2900">
                <a:solidFill>
                  <a:schemeClr val="dk1"/>
                </a:solidFill>
                <a:latin typeface="Calibri"/>
                <a:ea typeface="Calibri"/>
                <a:cs typeface="Calibri"/>
                <a:sym typeface="Calibri"/>
              </a:rPr>
              <a:t>. </a:t>
            </a:r>
            <a:endParaRPr sz="2900">
              <a:solidFill>
                <a:schemeClr val="dk1"/>
              </a:solidFill>
              <a:latin typeface="Calibri"/>
              <a:ea typeface="Calibri"/>
              <a:cs typeface="Calibri"/>
              <a:sym typeface="Calibri"/>
            </a:endParaRPr>
          </a:p>
        </p:txBody>
      </p:sp>
      <p:pic>
        <p:nvPicPr>
          <p:cNvPr id="681" name="Google Shape;681;p65" title="victor.png"/>
          <p:cNvPicPr preferRelativeResize="0"/>
          <p:nvPr/>
        </p:nvPicPr>
        <p:blipFill>
          <a:blip r:embed="rId3">
            <a:alphaModFix/>
          </a:blip>
          <a:stretch>
            <a:fillRect/>
          </a:stretch>
        </p:blipFill>
        <p:spPr>
          <a:xfrm>
            <a:off x="405000" y="1025338"/>
            <a:ext cx="4093200" cy="2962876"/>
          </a:xfrm>
          <a:prstGeom prst="rect">
            <a:avLst/>
          </a:prstGeom>
          <a:noFill/>
          <a:ln cap="flat" cmpd="sng" w="9525">
            <a:solidFill>
              <a:schemeClr val="dk1"/>
            </a:solidFill>
            <a:prstDash val="solid"/>
            <a:round/>
            <a:headEnd len="sm" w="sm" type="none"/>
            <a:tailEnd len="sm" w="sm" type="none"/>
          </a:ln>
        </p:spPr>
      </p:pic>
      <p:pic>
        <p:nvPicPr>
          <p:cNvPr descr="slime_blue.png" id="682" name="Google Shape;682;p65"/>
          <p:cNvPicPr preferRelativeResize="0"/>
          <p:nvPr/>
        </p:nvPicPr>
        <p:blipFill rotWithShape="1">
          <a:blip r:embed="rId4">
            <a:alphaModFix/>
          </a:blip>
          <a:srcRect b="0" l="0" r="0" t="0"/>
          <a:stretch/>
        </p:blipFill>
        <p:spPr>
          <a:xfrm>
            <a:off x="4827373" y="2016225"/>
            <a:ext cx="3657581" cy="2743175"/>
          </a:xfrm>
          <a:prstGeom prst="rect">
            <a:avLst/>
          </a:prstGeom>
          <a:noFill/>
          <a:ln>
            <a:noFill/>
          </a:ln>
        </p:spPr>
      </p:pic>
      <p:pic>
        <p:nvPicPr>
          <p:cNvPr id="683" name="Google Shape;683;p65" title="angryTongueFace.gif"/>
          <p:cNvPicPr preferRelativeResize="0"/>
          <p:nvPr/>
        </p:nvPicPr>
        <p:blipFill>
          <a:blip r:embed="rId5">
            <a:alphaModFix/>
          </a:blip>
          <a:stretch>
            <a:fillRect/>
          </a:stretch>
        </p:blipFill>
        <p:spPr>
          <a:xfrm>
            <a:off x="5536122" y="2794274"/>
            <a:ext cx="1631000" cy="1631000"/>
          </a:xfrm>
          <a:prstGeom prst="rect">
            <a:avLst/>
          </a:prstGeom>
          <a:noFill/>
          <a:ln>
            <a:noFill/>
          </a:ln>
        </p:spPr>
      </p:pic>
      <p:sp>
        <p:nvSpPr>
          <p:cNvPr id="684" name="Google Shape;684;p65"/>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66"/>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OS and Language Requirements</a:t>
            </a:r>
            <a:endParaRPr/>
          </a:p>
        </p:txBody>
      </p:sp>
      <p:sp>
        <p:nvSpPr>
          <p:cNvPr id="690" name="Google Shape;690;p66"/>
          <p:cNvSpPr txBox="1"/>
          <p:nvPr/>
        </p:nvSpPr>
        <p:spPr>
          <a:xfrm>
            <a:off x="4955250" y="1042325"/>
            <a:ext cx="39054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As previously noted your agents must be programmed in Java 17 (or later).  Please default to using the most recent stable release of Java. However you may prototype your agents in another more easily scriptable language such as Python.</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The RINGwars app may function in MacOS and Linux however you are required to submit a Windows </a:t>
            </a:r>
            <a:r>
              <a:rPr lang="en">
                <a:solidFill>
                  <a:schemeClr val="dk1"/>
                </a:solidFill>
                <a:latin typeface="Calibri"/>
                <a:ea typeface="Calibri"/>
                <a:cs typeface="Calibri"/>
                <a:sym typeface="Calibri"/>
              </a:rPr>
              <a:t>compatible</a:t>
            </a:r>
            <a:r>
              <a:rPr lang="en">
                <a:solidFill>
                  <a:schemeClr val="dk1"/>
                </a:solidFill>
                <a:latin typeface="Calibri"/>
                <a:ea typeface="Calibri"/>
                <a:cs typeface="Calibri"/>
                <a:sym typeface="Calibri"/>
              </a:rPr>
              <a:t> Agent. It is your </a:t>
            </a:r>
            <a:r>
              <a:rPr lang="en">
                <a:solidFill>
                  <a:schemeClr val="dk1"/>
                </a:solidFill>
                <a:latin typeface="Calibri"/>
                <a:ea typeface="Calibri"/>
                <a:cs typeface="Calibri"/>
                <a:sym typeface="Calibri"/>
              </a:rPr>
              <a:t>responsibility</a:t>
            </a:r>
            <a:r>
              <a:rPr lang="en">
                <a:solidFill>
                  <a:schemeClr val="dk1"/>
                </a:solidFill>
                <a:latin typeface="Calibri"/>
                <a:ea typeface="Calibri"/>
                <a:cs typeface="Calibri"/>
                <a:sym typeface="Calibri"/>
              </a:rPr>
              <a:t> to confirm this.</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The RINGwars.exe executable is a simple executable wrapper around a java Jar file. If you do not understand how to extract the underlying Jar file you should work in Windows.</a:t>
            </a:r>
            <a:endParaRPr>
              <a:solidFill>
                <a:schemeClr val="dk1"/>
              </a:solidFill>
              <a:latin typeface="Calibri"/>
              <a:ea typeface="Calibri"/>
              <a:cs typeface="Calibri"/>
              <a:sym typeface="Calibri"/>
            </a:endParaRPr>
          </a:p>
        </p:txBody>
      </p:sp>
      <p:pic>
        <p:nvPicPr>
          <p:cNvPr id="691" name="Google Shape;691;p66" title="LoadScreenBorder.png"/>
          <p:cNvPicPr preferRelativeResize="0"/>
          <p:nvPr/>
        </p:nvPicPr>
        <p:blipFill>
          <a:blip r:embed="rId3">
            <a:alphaModFix/>
          </a:blip>
          <a:stretch>
            <a:fillRect/>
          </a:stretch>
        </p:blipFill>
        <p:spPr>
          <a:xfrm>
            <a:off x="931052" y="1042326"/>
            <a:ext cx="3640950" cy="3640950"/>
          </a:xfrm>
          <a:prstGeom prst="rect">
            <a:avLst/>
          </a:prstGeom>
          <a:noFill/>
          <a:ln>
            <a:noFill/>
          </a:ln>
        </p:spPr>
      </p:pic>
      <p:sp>
        <p:nvSpPr>
          <p:cNvPr id="692" name="Google Shape;692;p66"/>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pic>
        <p:nvPicPr>
          <p:cNvPr descr="slime_red.png" id="697" name="Google Shape;697;p67"/>
          <p:cNvPicPr preferRelativeResize="0"/>
          <p:nvPr/>
        </p:nvPicPr>
        <p:blipFill rotWithShape="1">
          <a:blip r:embed="rId3">
            <a:alphaModFix/>
          </a:blip>
          <a:srcRect b="0" l="0" r="0" t="0"/>
          <a:stretch/>
        </p:blipFill>
        <p:spPr>
          <a:xfrm>
            <a:off x="7007726" y="2508650"/>
            <a:ext cx="2056391" cy="1542300"/>
          </a:xfrm>
          <a:prstGeom prst="rect">
            <a:avLst/>
          </a:prstGeom>
          <a:noFill/>
          <a:ln>
            <a:noFill/>
          </a:ln>
        </p:spPr>
      </p:pic>
      <p:sp>
        <p:nvSpPr>
          <p:cNvPr id="698" name="Google Shape;698;p67"/>
          <p:cNvSpPr txBox="1"/>
          <p:nvPr/>
        </p:nvSpPr>
        <p:spPr>
          <a:xfrm>
            <a:off x="457200" y="274320"/>
            <a:ext cx="77724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3400">
                <a:solidFill>
                  <a:schemeClr val="dk1"/>
                </a:solidFill>
                <a:latin typeface="Calibri"/>
                <a:ea typeface="Calibri"/>
                <a:cs typeface="Calibri"/>
                <a:sym typeface="Calibri"/>
              </a:rPr>
              <a:t>OS and Language Requirements</a:t>
            </a:r>
            <a:endParaRPr/>
          </a:p>
        </p:txBody>
      </p:sp>
      <p:sp>
        <p:nvSpPr>
          <p:cNvPr id="699" name="Google Shape;699;p67"/>
          <p:cNvSpPr txBox="1"/>
          <p:nvPr/>
        </p:nvSpPr>
        <p:spPr>
          <a:xfrm>
            <a:off x="4942475" y="978525"/>
            <a:ext cx="39054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Your submitted Agent must run “out-of-the-box” it should not require any additional libraries or subscriptions </a:t>
            </a:r>
            <a:r>
              <a:rPr lang="en">
                <a:solidFill>
                  <a:schemeClr val="dk1"/>
                </a:solidFill>
                <a:latin typeface="Calibri"/>
                <a:ea typeface="Calibri"/>
                <a:cs typeface="Calibri"/>
                <a:sym typeface="Calibri"/>
              </a:rPr>
              <a:t>which are not natively provided with Java.</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Further details about the submission requirements can be found in your X letter.</a:t>
            </a:r>
            <a:endParaRPr>
              <a:solidFill>
                <a:schemeClr val="dk1"/>
              </a:solidFill>
              <a:latin typeface="Calibri"/>
              <a:ea typeface="Calibri"/>
              <a:cs typeface="Calibri"/>
              <a:sym typeface="Calibri"/>
            </a:endParaRPr>
          </a:p>
        </p:txBody>
      </p:sp>
      <p:pic>
        <p:nvPicPr>
          <p:cNvPr id="700" name="Google Shape;700;p67" title="LoadScreenBorder.png"/>
          <p:cNvPicPr preferRelativeResize="0"/>
          <p:nvPr/>
        </p:nvPicPr>
        <p:blipFill>
          <a:blip r:embed="rId4">
            <a:alphaModFix/>
          </a:blip>
          <a:stretch>
            <a:fillRect/>
          </a:stretch>
        </p:blipFill>
        <p:spPr>
          <a:xfrm>
            <a:off x="931052" y="1042326"/>
            <a:ext cx="3640950" cy="3640950"/>
          </a:xfrm>
          <a:prstGeom prst="rect">
            <a:avLst/>
          </a:prstGeom>
          <a:noFill/>
          <a:ln>
            <a:noFill/>
          </a:ln>
        </p:spPr>
      </p:pic>
      <p:pic>
        <p:nvPicPr>
          <p:cNvPr descr="slime_blue.png" id="701" name="Google Shape;701;p67"/>
          <p:cNvPicPr preferRelativeResize="0"/>
          <p:nvPr/>
        </p:nvPicPr>
        <p:blipFill rotWithShape="1">
          <a:blip r:embed="rId5">
            <a:alphaModFix/>
          </a:blip>
          <a:srcRect b="0" l="0" r="0" t="0"/>
          <a:stretch/>
        </p:blipFill>
        <p:spPr>
          <a:xfrm>
            <a:off x="5632250" y="3717525"/>
            <a:ext cx="1769900" cy="1327425"/>
          </a:xfrm>
          <a:prstGeom prst="rect">
            <a:avLst/>
          </a:prstGeom>
          <a:noFill/>
          <a:ln>
            <a:noFill/>
          </a:ln>
        </p:spPr>
      </p:pic>
      <p:pic>
        <p:nvPicPr>
          <p:cNvPr id="702" name="Google Shape;702;p67" title="crosseyedFace.gif"/>
          <p:cNvPicPr preferRelativeResize="0"/>
          <p:nvPr/>
        </p:nvPicPr>
        <p:blipFill>
          <a:blip r:embed="rId6">
            <a:alphaModFix/>
          </a:blip>
          <a:stretch>
            <a:fillRect/>
          </a:stretch>
        </p:blipFill>
        <p:spPr>
          <a:xfrm>
            <a:off x="7984613" y="2968354"/>
            <a:ext cx="691500" cy="691500"/>
          </a:xfrm>
          <a:prstGeom prst="rect">
            <a:avLst/>
          </a:prstGeom>
          <a:noFill/>
          <a:ln>
            <a:noFill/>
          </a:ln>
        </p:spPr>
      </p:pic>
      <p:pic>
        <p:nvPicPr>
          <p:cNvPr descr="slime_yellow.png" id="703" name="Google Shape;703;p67"/>
          <p:cNvPicPr preferRelativeResize="0"/>
          <p:nvPr/>
        </p:nvPicPr>
        <p:blipFill rotWithShape="1">
          <a:blip r:embed="rId7">
            <a:alphaModFix/>
          </a:blip>
          <a:srcRect b="0" l="0" r="0" t="0"/>
          <a:stretch/>
        </p:blipFill>
        <p:spPr>
          <a:xfrm>
            <a:off x="5145550" y="2508650"/>
            <a:ext cx="1427700" cy="1070775"/>
          </a:xfrm>
          <a:prstGeom prst="rect">
            <a:avLst/>
          </a:prstGeom>
          <a:noFill/>
          <a:ln>
            <a:noFill/>
          </a:ln>
        </p:spPr>
      </p:pic>
      <p:pic>
        <p:nvPicPr>
          <p:cNvPr id="704" name="Google Shape;704;p67" title="cartoonFace.gif"/>
          <p:cNvPicPr preferRelativeResize="0"/>
          <p:nvPr/>
        </p:nvPicPr>
        <p:blipFill>
          <a:blip r:embed="rId8">
            <a:alphaModFix/>
          </a:blip>
          <a:stretch>
            <a:fillRect/>
          </a:stretch>
        </p:blipFill>
        <p:spPr>
          <a:xfrm>
            <a:off x="5444115" y="2880774"/>
            <a:ext cx="691500" cy="691500"/>
          </a:xfrm>
          <a:prstGeom prst="rect">
            <a:avLst/>
          </a:prstGeom>
          <a:noFill/>
          <a:ln>
            <a:noFill/>
          </a:ln>
        </p:spPr>
      </p:pic>
      <p:pic>
        <p:nvPicPr>
          <p:cNvPr id="705" name="Google Shape;705;p67" title="angryTongueFace.gif"/>
          <p:cNvPicPr preferRelativeResize="0"/>
          <p:nvPr/>
        </p:nvPicPr>
        <p:blipFill>
          <a:blip r:embed="rId9">
            <a:alphaModFix/>
          </a:blip>
          <a:stretch>
            <a:fillRect/>
          </a:stretch>
        </p:blipFill>
        <p:spPr>
          <a:xfrm>
            <a:off x="6011675" y="4050951"/>
            <a:ext cx="756475" cy="756500"/>
          </a:xfrm>
          <a:prstGeom prst="rect">
            <a:avLst/>
          </a:prstGeom>
          <a:noFill/>
          <a:ln>
            <a:noFill/>
          </a:ln>
        </p:spPr>
      </p:pic>
      <p:sp>
        <p:nvSpPr>
          <p:cNvPr id="706" name="Google Shape;706;p67"/>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